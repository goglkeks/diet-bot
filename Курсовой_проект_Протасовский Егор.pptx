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C9210A-3C6E-49F4-971A-2BCDB05F440B}" v="4" dt="2026-06-17T21:05:26.266"/>
    <p1510:client id="{D2EB3827-132C-4588-AF74-DF07110CAB08}" v="149" dt="2026-06-17T21:16:11.522"/>
    <p1510:client id="{D403640A-31FE-4AAE-89C2-C6038BD8F134}" v="520" dt="2026-06-17T21:05:03.464"/>
    <p1510:client id="{F5E58529-1DBB-4AA4-8D4D-714180D026CC}" v="80" dt="2026-06-17T21:07:48.8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840"/>
        <p:guide orient="horz"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5021520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6604538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17.06.2026</a:t>
            </a:fld>
            <a:endParaRPr lang="ru-RU"/>
          </a:p>
        </p:txBody>
      </p:sp>
      <p:sp>
        <p:nvSpPr>
          <p:cNvPr id="210849762" name="Рисунок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534432481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7333144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31119170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485278" name="Рисунок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42317743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1223913725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48761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608326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50483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101E8A-18EC-1E49-078F-1D2CE68B030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67251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686268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327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104ED-59C1-4F48-A785-D827731E80CB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16002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208723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6669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A8BB65-983B-AA4F-2AB1-5D8B90FBF97F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94587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22451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587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FEDC49-CD24-1182-4CEF-FDBA1B67E651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30545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28233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771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6F110A-2121-E519-2031-E6F2EECE2DA1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3165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643940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00217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90E230-672D-1880-F03D-CE4EC4FB8668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17984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659068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187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06E13A-7496-438E-0139-CE69DCC03EF6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55249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34416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19545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E999F-DA12-C9C2-4A13-AEC5B25D49C4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47169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055528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75222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5E7275-670E-4092-25B7-69B3023BEF91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85653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100998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4449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DE4691-57E6-7FD9-893F-C5EDC1293B9A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82448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849662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261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F56A02-7CD4-ADAE-FD58-1FE1A06FEB21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6744067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457730948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</a:p>
        </p:txBody>
      </p:sp>
      <p:sp>
        <p:nvSpPr>
          <p:cNvPr id="225143898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17.06.2026</a:t>
            </a:fld>
            <a:endParaRPr lang="ru-RU"/>
          </a:p>
        </p:txBody>
      </p:sp>
      <p:sp>
        <p:nvSpPr>
          <p:cNvPr id="1026548941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841094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398705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622193258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92777455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17.06.2026</a:t>
            </a:fld>
            <a:endParaRPr lang="ru-RU"/>
          </a:p>
        </p:txBody>
      </p:sp>
      <p:sp>
        <p:nvSpPr>
          <p:cNvPr id="758512680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51375631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8299269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1066450642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13845090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17.06.2026</a:t>
            </a:fld>
            <a:endParaRPr lang="ru-RU"/>
          </a:p>
        </p:txBody>
      </p:sp>
      <p:sp>
        <p:nvSpPr>
          <p:cNvPr id="2023939260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41056525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4544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2069582569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193789800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490722300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17.06.2026</a:t>
            </a:fld>
            <a:endParaRPr lang="ru-RU"/>
          </a:p>
        </p:txBody>
      </p:sp>
      <p:sp>
        <p:nvSpPr>
          <p:cNvPr id="395358813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16118870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328378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1466874345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9472127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29188557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57610807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70058261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17.06.2026</a:t>
            </a:fld>
            <a:endParaRPr lang="ru-RU"/>
          </a:p>
        </p:txBody>
      </p:sp>
      <p:sp>
        <p:nvSpPr>
          <p:cNvPr id="638782742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38038914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9848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700117662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17.06.2026</a:t>
            </a:fld>
            <a:endParaRPr lang="ru-RU"/>
          </a:p>
        </p:txBody>
      </p:sp>
      <p:sp>
        <p:nvSpPr>
          <p:cNvPr id="138697953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34367616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201288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17.06.2026</a:t>
            </a:fld>
            <a:endParaRPr lang="ru-RU"/>
          </a:p>
        </p:txBody>
      </p:sp>
      <p:sp>
        <p:nvSpPr>
          <p:cNvPr id="1917120677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1568538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1410799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1047383569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26540512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3475098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17.06.2026</a:t>
            </a:fld>
            <a:endParaRPr lang="ru-RU"/>
          </a:p>
        </p:txBody>
      </p:sp>
      <p:sp>
        <p:nvSpPr>
          <p:cNvPr id="2086450431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2732471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3834244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1507864196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Нажмите, чтобы добавить изображение</a:t>
            </a:r>
          </a:p>
        </p:txBody>
      </p:sp>
      <p:sp>
        <p:nvSpPr>
          <p:cNvPr id="649677515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31549251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17.06.2026</a:t>
            </a:fld>
            <a:endParaRPr lang="ru-RU"/>
          </a:p>
        </p:txBody>
      </p:sp>
      <p:sp>
        <p:nvSpPr>
          <p:cNvPr id="1955773699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10552701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23905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469714532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14773625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17.06.2026</a:t>
            </a:fld>
            <a:endParaRPr lang="ru-RU"/>
          </a:p>
        </p:txBody>
      </p:sp>
      <p:sp>
        <p:nvSpPr>
          <p:cNvPr id="821955873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21872855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72797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1065823067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30653416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17.06.2026</a:t>
            </a:fld>
            <a:endParaRPr lang="ru-RU"/>
          </a:p>
        </p:txBody>
      </p:sp>
      <p:sp>
        <p:nvSpPr>
          <p:cNvPr id="172330425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32608029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190871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127552004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25702846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17.06.2026</a:t>
            </a:fld>
            <a:endParaRPr lang="ru-RU"/>
          </a:p>
        </p:txBody>
      </p:sp>
      <p:sp>
        <p:nvSpPr>
          <p:cNvPr id="31431033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9909131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602096" name="Рисунок 165560209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416" y="0"/>
            <a:ext cx="6752166" cy="6858000"/>
          </a:xfrm>
          <a:prstGeom prst="rect">
            <a:avLst/>
          </a:prstGeom>
        </p:spPr>
      </p:pic>
      <p:sp>
        <p:nvSpPr>
          <p:cNvPr id="659061710" name="TextBox 659061709"/>
          <p:cNvSpPr txBox="1"/>
          <p:nvPr/>
        </p:nvSpPr>
        <p:spPr bwMode="auto">
          <a:xfrm>
            <a:off x="6981437" y="2698492"/>
            <a:ext cx="5373526" cy="56419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3200" b="1" err="1">
                <a:ea typeface="+mn-lt"/>
                <a:cs typeface="+mn-lt"/>
              </a:rPr>
              <a:t>Калькулятор</a:t>
            </a:r>
            <a:r>
              <a:rPr lang="en-US" sz="3200" b="1">
                <a:ea typeface="+mn-lt"/>
                <a:cs typeface="+mn-lt"/>
              </a:rPr>
              <a:t> </a:t>
            </a:r>
            <a:r>
              <a:rPr lang="en-US" sz="3200" b="1" err="1">
                <a:ea typeface="+mn-lt"/>
                <a:cs typeface="+mn-lt"/>
              </a:rPr>
              <a:t>диеты</a:t>
            </a:r>
            <a:r>
              <a:rPr lang="en-US" sz="3200" b="1">
                <a:ea typeface="+mn-lt"/>
                <a:cs typeface="+mn-lt"/>
              </a:rPr>
              <a:t> </a:t>
            </a:r>
            <a:endParaRPr lang="ru-RU" b="1"/>
          </a:p>
        </p:txBody>
      </p:sp>
      <p:sp>
        <p:nvSpPr>
          <p:cNvPr id="1348564105" name="TextBox 1348564104"/>
          <p:cNvSpPr txBox="1"/>
          <p:nvPr/>
        </p:nvSpPr>
        <p:spPr bwMode="auto">
          <a:xfrm>
            <a:off x="7148705" y="4812447"/>
            <a:ext cx="5041036" cy="2042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ru-RU" sz="2200">
                <a:solidFill>
                  <a:srgbClr val="000000"/>
                </a:solidFill>
                <a:ea typeface="+mn-lt"/>
                <a:cs typeface="+mn-lt"/>
              </a:rPr>
              <a:t>Протасосвкий Егор Александрович </a:t>
            </a:r>
            <a:r>
              <a:rPr lang="ru-RU" sz="2200" b="0" i="0" u="none" strike="noStrike" cap="none" spc="0">
                <a:solidFill>
                  <a:srgbClr val="000000"/>
                </a:solidFill>
                <a:ea typeface="+mn-lt"/>
                <a:cs typeface="+mn-lt"/>
              </a:rPr>
              <a:t>— группа </a:t>
            </a:r>
            <a:r>
              <a:rPr lang="ru-RU" sz="2200">
                <a:solidFill>
                  <a:srgbClr val="000000"/>
                </a:solidFill>
                <a:ea typeface="+mn-lt"/>
                <a:cs typeface="+mn-lt"/>
              </a:rPr>
              <a:t>02.24</a:t>
            </a:r>
            <a:r>
              <a:rPr lang="ru-RU" sz="2200" b="0" i="0" u="none" strike="noStrike" cap="none" spc="0">
                <a:solidFill>
                  <a:srgbClr val="000000"/>
                </a:solidFill>
                <a:ea typeface="+mn-lt"/>
                <a:cs typeface="+mn-lt"/>
              </a:rPr>
              <a:t>.ИСИП.ОФ.9-НСК</a:t>
            </a:r>
            <a:endParaRPr lang="ru-RU">
              <a:ea typeface="+mn-lt"/>
              <a:cs typeface="+mn-lt"/>
            </a:endParaRPr>
          </a:p>
          <a:p>
            <a:pPr>
              <a:defRPr/>
            </a:pPr>
            <a:r>
              <a:rPr lang="ru-RU" sz="2200" b="0" i="0" u="none" strike="noStrike" cap="none" spc="0">
                <a:solidFill>
                  <a:srgbClr val="000000"/>
                </a:solidFill>
                <a:ea typeface="+mn-lt"/>
                <a:cs typeface="+mn-lt"/>
              </a:rPr>
              <a:t>Руководитель: Королёв Гордей Александрович — Хекслет колледж — 2026</a:t>
            </a:r>
            <a:endParaRPr>
              <a:ea typeface="+mn-lt"/>
              <a:cs typeface="+mn-lt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9499925" name="Прямоугольник 7"/>
          <p:cNvSpPr/>
          <p:nvPr/>
        </p:nvSpPr>
        <p:spPr bwMode="auto">
          <a:xfrm>
            <a:off x="6241915" y="3857624"/>
            <a:ext cx="5862481" cy="2438399"/>
          </a:xfrm>
          <a:prstGeom prst="roundRect">
            <a:avLst>
              <a:gd name="adj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ea typeface="+mn-lt"/>
                <a:cs typeface="+mn-lt"/>
              </a:rPr>
              <a:t>Цель</a:t>
            </a:r>
            <a:r>
              <a:rPr lang="ru-RU" b="1">
                <a:solidFill>
                  <a:schemeClr val="tx1"/>
                </a:solidFill>
                <a:ea typeface="+mn-lt"/>
                <a:cs typeface="+mn-lt"/>
              </a:rPr>
              <a:t> проекта</a:t>
            </a:r>
            <a:r>
              <a:rPr lang="ru-RU">
                <a:solidFill>
                  <a:schemeClr val="tx1"/>
                </a:solidFill>
                <a:ea typeface="+mn-lt"/>
                <a:cs typeface="+mn-lt"/>
              </a:rPr>
              <a:t> — разработать </a:t>
            </a:r>
            <a:r>
              <a:rPr lang="ru-RU" sz="1800" b="0" i="0" u="none" strike="noStrike" cap="none" spc="0">
                <a:solidFill>
                  <a:schemeClr val="tx1"/>
                </a:solidFill>
                <a:ea typeface="+mn-lt"/>
                <a:cs typeface="+mn-lt"/>
              </a:rPr>
              <a:t>веб-приложение</a:t>
            </a:r>
            <a:r>
              <a:rPr lang="ru-RU">
                <a:solidFill>
                  <a:schemeClr val="tx1"/>
                </a:solidFill>
                <a:ea typeface="+mn-lt"/>
                <a:cs typeface="+mn-lt"/>
              </a:rPr>
              <a:t> «калькулятор диет» </a:t>
            </a:r>
            <a:r>
              <a:rPr lang="ru-RU" sz="1800" b="0" i="0" u="none" strike="noStrike" cap="none" spc="0">
                <a:solidFill>
                  <a:schemeClr val="tx1"/>
                </a:solidFill>
                <a:ea typeface="+mn-lt"/>
                <a:cs typeface="+mn-lt"/>
              </a:rPr>
              <a:t>для </a:t>
            </a:r>
            <a:r>
              <a:rPr lang="ru-RU">
                <a:solidFill>
                  <a:schemeClr val="tx1"/>
                </a:solidFill>
                <a:ea typeface="+mn-lt"/>
                <a:cs typeface="+mn-lt"/>
              </a:rPr>
              <a:t>персонализированного расчёта КБЖУ </a:t>
            </a:r>
            <a:r>
              <a:rPr lang="ru-RU" sz="1800" b="0" i="0" u="none" strike="noStrike" cap="none" spc="0">
                <a:solidFill>
                  <a:schemeClr val="tx1"/>
                </a:solidFill>
                <a:ea typeface="+mn-lt"/>
                <a:cs typeface="+mn-lt"/>
              </a:rPr>
              <a:t>и </a:t>
            </a:r>
            <a:r>
              <a:rPr lang="ru-RU">
                <a:solidFill>
                  <a:schemeClr val="tx1"/>
                </a:solidFill>
                <a:ea typeface="+mn-lt"/>
                <a:cs typeface="+mn-lt"/>
              </a:rPr>
              <a:t>генерации меню с учётом индивидуальных параметров </a:t>
            </a:r>
            <a:r>
              <a:rPr lang="ru-RU" sz="1800" b="0" i="0" u="none" strike="noStrike" cap="none" spc="0">
                <a:solidFill>
                  <a:schemeClr val="tx1"/>
                </a:solidFill>
                <a:ea typeface="+mn-lt"/>
                <a:cs typeface="+mn-lt"/>
              </a:rPr>
              <a:t>пользователя</a:t>
            </a:r>
            <a:r>
              <a:rPr lang="ru-RU">
                <a:solidFill>
                  <a:schemeClr val="tx1"/>
                </a:solidFill>
                <a:ea typeface="+mn-lt"/>
                <a:cs typeface="+mn-lt"/>
              </a:rPr>
              <a:t>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575756553" name="Прямоугольник 5"/>
          <p:cNvSpPr/>
          <p:nvPr/>
        </p:nvSpPr>
        <p:spPr bwMode="auto">
          <a:xfrm>
            <a:off x="6241915" y="1142999"/>
            <a:ext cx="5862481" cy="2438399"/>
          </a:xfrm>
          <a:prstGeom prst="roundRect">
            <a:avLst>
              <a:gd name="adj" fmla="val 16667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ea typeface="+mn-lt"/>
                <a:cs typeface="+mn-lt"/>
              </a:rPr>
              <a:t>Актуальность:</a:t>
            </a:r>
            <a:endParaRPr lang="ru-RU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ru-RU">
                <a:solidFill>
                  <a:schemeClr val="tx1"/>
                </a:solidFill>
                <a:ea typeface="+mn-lt"/>
                <a:cs typeface="+mn-lt"/>
              </a:rPr>
              <a:t>60% людей следят за питанием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ru-RU">
                <a:solidFill>
                  <a:schemeClr val="tx1"/>
                </a:solidFill>
                <a:ea typeface="+mn-lt"/>
                <a:cs typeface="+mn-lt"/>
              </a:rPr>
              <a:t>Аналоги платные или </a:t>
            </a:r>
            <a:r>
              <a:rPr lang="ru-RU" sz="1800" b="0" i="0" u="none" strike="noStrike" cap="none" spc="0">
                <a:solidFill>
                  <a:schemeClr val="tx1"/>
                </a:solidFill>
                <a:ea typeface="+mn-lt"/>
                <a:cs typeface="+mn-lt"/>
              </a:rPr>
              <a:t>не </a:t>
            </a:r>
            <a:r>
              <a:rPr lang="ru-RU">
                <a:solidFill>
                  <a:schemeClr val="tx1"/>
                </a:solidFill>
                <a:ea typeface="+mn-lt"/>
                <a:cs typeface="+mn-lt"/>
              </a:rPr>
              <a:t>имеют генерации меню</a:t>
            </a:r>
            <a:endParaRPr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ru-RU">
                <a:solidFill>
                  <a:schemeClr val="tx1"/>
                </a:solidFill>
                <a:ea typeface="+mn-lt"/>
                <a:cs typeface="+mn-lt"/>
              </a:rPr>
              <a:t>DietCalc </a:t>
            </a:r>
            <a:r>
              <a:rPr lang="ru-RU" sz="1800" b="0" i="0" u="none" strike="noStrike" cap="none" spc="0">
                <a:solidFill>
                  <a:schemeClr val="tx1"/>
                </a:solidFill>
                <a:ea typeface="+mn-lt"/>
                <a:cs typeface="+mn-lt"/>
              </a:rPr>
              <a:t>— </a:t>
            </a:r>
            <a:r>
              <a:rPr lang="ru-RU">
                <a:solidFill>
                  <a:schemeClr val="tx1"/>
                </a:solidFill>
                <a:ea typeface="+mn-lt"/>
                <a:cs typeface="+mn-lt"/>
              </a:rPr>
              <a:t>бесплатный, без </a:t>
            </a:r>
            <a:r>
              <a:rPr lang="ru-RU" sz="1800" b="0" i="0" u="none" strike="noStrike" cap="none" spc="0">
                <a:solidFill>
                  <a:schemeClr val="tx1"/>
                </a:solidFill>
                <a:ea typeface="+mn-lt"/>
                <a:cs typeface="+mn-lt"/>
              </a:rPr>
              <a:t>регистрации</a:t>
            </a:r>
            <a:r>
              <a:rPr lang="ru-RU">
                <a:solidFill>
                  <a:schemeClr val="tx1"/>
                </a:solidFill>
                <a:ea typeface="+mn-lt"/>
                <a:cs typeface="+mn-lt"/>
              </a:rPr>
              <a:t>, с готовым меню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ru-RU">
                <a:solidFill>
                  <a:schemeClr val="tx1"/>
                </a:solidFill>
                <a:ea typeface="+mn-lt"/>
                <a:cs typeface="+mn-lt"/>
              </a:rPr>
              <a:t>Работает в любом браузере</a:t>
            </a:r>
          </a:p>
          <a:p>
            <a:pPr>
              <a:defRPr/>
            </a:pPr>
            <a:endParaRPr lang="ru-RU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29641346" name="TextBox 2029641345"/>
          <p:cNvSpPr txBox="1"/>
          <p:nvPr/>
        </p:nvSpPr>
        <p:spPr bwMode="auto">
          <a:xfrm>
            <a:off x="943947" y="428625"/>
            <a:ext cx="440955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3600" b="1">
                <a:latin typeface="Calibri"/>
                <a:ea typeface="Calibri"/>
                <a:cs typeface="Calibri"/>
              </a:rPr>
              <a:t>Актуальность и цель</a:t>
            </a:r>
            <a:endParaRPr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E65DDD5-C346-E291-8D1D-E83F08B56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" y="1515521"/>
            <a:ext cx="5829300" cy="41243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65782110" name="Рисунок 26578210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449400" y="581024"/>
            <a:ext cx="5628299" cy="6057900"/>
          </a:xfrm>
          <a:prstGeom prst="rect">
            <a:avLst/>
          </a:prstGeom>
        </p:spPr>
      </p:pic>
      <p:sp>
        <p:nvSpPr>
          <p:cNvPr id="469409389" name="TextBox 469409388"/>
          <p:cNvSpPr txBox="1"/>
          <p:nvPr/>
        </p:nvSpPr>
        <p:spPr bwMode="auto">
          <a:xfrm>
            <a:off x="477224" y="342900"/>
            <a:ext cx="571500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1161582301" name="TextBox 1161582300"/>
          <p:cNvSpPr txBox="1"/>
          <p:nvPr/>
        </p:nvSpPr>
        <p:spPr bwMode="auto">
          <a:xfrm>
            <a:off x="496273" y="819148"/>
            <a:ext cx="5346598" cy="5401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2000" i="0" u="none" strike="noStrike" cap="none" spc="0">
                <a:solidFill>
                  <a:srgbClr val="000000"/>
                </a:solidFill>
                <a:ea typeface="+mn-lt"/>
                <a:cs typeface="+mn-lt"/>
              </a:rPr>
              <a:t>Задачи </a:t>
            </a:r>
            <a:r>
              <a:rPr lang="en-US" sz="2000" i="0" u="none" strike="noStrike" cap="none" spc="0" err="1">
                <a:solidFill>
                  <a:srgbClr val="000000"/>
                </a:solidFill>
                <a:ea typeface="+mn-lt"/>
                <a:cs typeface="+mn-lt"/>
              </a:rPr>
              <a:t>проекта</a:t>
            </a:r>
            <a:r>
              <a:rPr lang="en-US" sz="2000" i="0" u="none" strike="noStrike" cap="none" spc="0">
                <a:solidFill>
                  <a:srgbClr val="000000"/>
                </a:solidFill>
                <a:ea typeface="+mn-lt"/>
                <a:cs typeface="+mn-lt"/>
              </a:rPr>
              <a:t>:</a:t>
            </a:r>
            <a:endParaRPr lang="ru-RU" sz="2000">
              <a:ea typeface="+mn-lt"/>
              <a:cs typeface="+mn-lt"/>
            </a:endParaRPr>
          </a:p>
          <a:p>
            <a:pPr>
              <a:defRPr/>
            </a:pPr>
            <a:endParaRPr lang="ru-RU"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rgbClr val="000000"/>
                </a:solidFill>
                <a:ea typeface="+mn-lt"/>
                <a:cs typeface="+mn-lt"/>
              </a:rPr>
              <a:t>1. Изучить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современные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b="0" i="0" u="none" strike="noStrike" cap="none" spc="0" err="1">
                <a:solidFill>
                  <a:srgbClr val="000000"/>
                </a:solidFill>
                <a:ea typeface="+mn-lt"/>
                <a:cs typeface="+mn-lt"/>
              </a:rPr>
              <a:t>технологии</a:t>
            </a:r>
            <a:r>
              <a:rPr lang="en-US" sz="2000" b="0" i="0" u="none" strike="noStrike" cap="none" spc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b="0" i="0" u="none" strike="noStrike" cap="none" spc="0" err="1">
                <a:solidFill>
                  <a:srgbClr val="000000"/>
                </a:solidFill>
                <a:ea typeface="+mn-lt"/>
                <a:cs typeface="+mn-lt"/>
              </a:rPr>
              <a:t>клиентской</a:t>
            </a:r>
            <a:r>
              <a:rPr lang="en-US" sz="2000" b="0" i="0" u="none" strike="noStrike" cap="none" spc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b="0" i="0" u="none" strike="noStrike" cap="none" spc="0" err="1">
                <a:solidFill>
                  <a:srgbClr val="000000"/>
                </a:solidFill>
                <a:ea typeface="+mn-lt"/>
                <a:cs typeface="+mn-lt"/>
              </a:rPr>
              <a:t>веб-разработки</a:t>
            </a:r>
            <a:endParaRPr lang="en-US" sz="2000">
              <a:ea typeface="+mn-lt"/>
              <a:cs typeface="+mn-lt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rgbClr val="000000"/>
                </a:solidFill>
                <a:ea typeface="+mn-lt"/>
                <a:cs typeface="+mn-lt"/>
              </a:rPr>
              <a:t>2. </a:t>
            </a:r>
            <a:r>
              <a:rPr lang="en-US" sz="2000" b="0" i="0" u="none" strike="noStrike" cap="none" spc="0" err="1">
                <a:solidFill>
                  <a:srgbClr val="000000"/>
                </a:solidFill>
                <a:ea typeface="+mn-lt"/>
                <a:cs typeface="+mn-lt"/>
              </a:rPr>
              <a:t>Разработать</a:t>
            </a:r>
            <a:r>
              <a:rPr lang="en-US" sz="2000" b="0" i="0" u="none" strike="noStrike" cap="none" spc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адаптивный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пользовательский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b="0" i="0" u="none" strike="noStrike" cap="none" spc="0" err="1">
                <a:solidFill>
                  <a:srgbClr val="000000"/>
                </a:solidFill>
                <a:ea typeface="+mn-lt"/>
                <a:cs typeface="+mn-lt"/>
              </a:rPr>
              <a:t>интерфейс</a:t>
            </a:r>
            <a:endParaRPr lang="en-US" sz="2000">
              <a:ea typeface="+mn-lt"/>
              <a:cs typeface="+mn-lt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rgbClr val="000000"/>
                </a:solidFill>
                <a:ea typeface="+mn-lt"/>
                <a:cs typeface="+mn-lt"/>
              </a:rPr>
              <a:t>3. Реализовать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модуль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расчёта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КБЖУ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по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формуле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Миффлина-Сан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Жеора</a:t>
            </a:r>
            <a:endParaRPr lang="ru-RU"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rgbClr val="000000"/>
                </a:solidFill>
                <a:ea typeface="+mn-lt"/>
                <a:cs typeface="+mn-lt"/>
              </a:rPr>
              <a:t>4. 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Создать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базу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рецептов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и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модуль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генерации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меню</a:t>
            </a:r>
            <a:endParaRPr lang="ru-RU"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rgbClr val="000000"/>
                </a:solidFill>
                <a:ea typeface="+mn-lt"/>
                <a:cs typeface="+mn-lt"/>
              </a:rPr>
              <a:t>5.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Организовать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сохранение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b="0" i="0" u="none" strike="noStrike" cap="none" spc="0">
                <a:solidFill>
                  <a:srgbClr val="000000"/>
                </a:solidFill>
                <a:ea typeface="+mn-lt"/>
                <a:cs typeface="+mn-lt"/>
              </a:rPr>
              <a:t>и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загрузку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профиля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в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localStorage</a:t>
            </a:r>
            <a:endParaRPr lang="ru-RU"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rgbClr val="000000"/>
                </a:solidFill>
                <a:ea typeface="+mn-lt"/>
                <a:cs typeface="+mn-lt"/>
              </a:rPr>
              <a:t>6. 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Реализовать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валидацию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вводимых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данных</a:t>
            </a:r>
            <a:endParaRPr lang="ru-RU"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rgbClr val="000000"/>
                </a:solidFill>
                <a:ea typeface="+mn-lt"/>
                <a:cs typeface="+mn-lt"/>
              </a:rPr>
              <a:t>7. Обеспечить </a:t>
            </a:r>
            <a:r>
              <a:rPr lang="en-US" sz="2000" b="0" i="0" u="none" strike="noStrike" cap="none" spc="0" err="1">
                <a:solidFill>
                  <a:srgbClr val="000000"/>
                </a:solidFill>
                <a:ea typeface="+mn-lt"/>
                <a:cs typeface="+mn-lt"/>
              </a:rPr>
              <a:t>адаптивность</a:t>
            </a:r>
            <a:r>
              <a:rPr lang="en-US" sz="2000" b="0" i="0" u="none" strike="noStrike" cap="none" spc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b="0" i="0" u="none" strike="noStrike" cap="none" spc="0" err="1">
                <a:solidFill>
                  <a:srgbClr val="000000"/>
                </a:solidFill>
                <a:ea typeface="+mn-lt"/>
                <a:cs typeface="+mn-lt"/>
              </a:rPr>
              <a:t>для</a:t>
            </a:r>
            <a:r>
              <a:rPr lang="en-US" sz="2000" b="0" i="0" u="none" strike="noStrike" cap="none" spc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b="0" i="0" u="none" strike="noStrike" cap="none" spc="0" err="1">
                <a:solidFill>
                  <a:srgbClr val="000000"/>
                </a:solidFill>
                <a:ea typeface="+mn-lt"/>
                <a:cs typeface="+mn-lt"/>
              </a:rPr>
              <a:t>мобильных</a:t>
            </a:r>
            <a:r>
              <a:rPr lang="en-US" sz="2000" b="0" i="0" u="none" strike="noStrike" cap="none" spc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b="0" i="0" u="none" strike="noStrike" cap="none" spc="0" err="1">
                <a:solidFill>
                  <a:srgbClr val="000000"/>
                </a:solidFill>
                <a:ea typeface="+mn-lt"/>
                <a:cs typeface="+mn-lt"/>
              </a:rPr>
              <a:t>устройств</a:t>
            </a:r>
            <a:endParaRPr lang="en-US" sz="2000">
              <a:ea typeface="+mn-lt"/>
              <a:cs typeface="+mn-lt"/>
            </a:endParaRPr>
          </a:p>
          <a:p>
            <a:pPr>
              <a:defRPr/>
            </a:pP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8.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Провести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тестирование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и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отладку</a:t>
            </a: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приложения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189605" name="TextBox 1248189604"/>
          <p:cNvSpPr txBox="1"/>
          <p:nvPr/>
        </p:nvSpPr>
        <p:spPr bwMode="auto">
          <a:xfrm>
            <a:off x="674043" y="1662324"/>
            <a:ext cx="2632582" cy="16462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 sz="12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en-US" sz="18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HTML5</a:t>
            </a:r>
            <a:endParaRPr/>
          </a:p>
          <a:p>
            <a:pPr>
              <a:defRPr/>
            </a:pPr>
            <a:r>
              <a:rPr>
                <a:latin typeface="Calibri"/>
                <a:ea typeface="Calibri"/>
                <a:cs typeface="Calibri"/>
              </a:rPr>
              <a:t>Семантическая разметка, структура страницы</a:t>
            </a:r>
            <a:endParaRPr/>
          </a:p>
          <a:p>
            <a:pPr>
              <a:defRPr/>
            </a:pPr>
            <a:r>
              <a:rPr>
                <a:latin typeface="Calibri"/>
                <a:ea typeface="Calibri"/>
                <a:cs typeface="Calibri"/>
              </a:rPr>
              <a:t>_____________________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70434970" name="Рисунок 47043496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33364" y="1243763"/>
            <a:ext cx="668705" cy="668705"/>
          </a:xfrm>
          <a:prstGeom prst="rect">
            <a:avLst/>
          </a:prstGeom>
        </p:spPr>
      </p:pic>
      <p:sp>
        <p:nvSpPr>
          <p:cNvPr id="1819894663" name="TextBox 1819894662"/>
          <p:cNvSpPr txBox="1"/>
          <p:nvPr/>
        </p:nvSpPr>
        <p:spPr bwMode="auto">
          <a:xfrm>
            <a:off x="4374893" y="2159808"/>
            <a:ext cx="248284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148295523" name="TextBox 148295522"/>
          <p:cNvSpPr txBox="1"/>
          <p:nvPr/>
        </p:nvSpPr>
        <p:spPr bwMode="auto">
          <a:xfrm>
            <a:off x="3748937" y="1845204"/>
            <a:ext cx="3110963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>
                <a:latin typeface="Calibri"/>
                <a:ea typeface="Calibri"/>
                <a:cs typeface="Calibri"/>
              </a:rPr>
              <a:t>CSS3</a:t>
            </a:r>
            <a:endParaRPr/>
          </a:p>
          <a:p>
            <a:pPr>
              <a:defRPr/>
            </a:pPr>
            <a:r>
              <a:rPr>
                <a:latin typeface="Calibri"/>
                <a:ea typeface="Calibri"/>
                <a:cs typeface="Calibri"/>
              </a:rPr>
              <a:t>Визуальное оформление, адаптивная вёрстка</a:t>
            </a:r>
          </a:p>
          <a:p>
            <a:pPr>
              <a:defRPr/>
            </a:pPr>
            <a:endParaRPr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>
                <a:latin typeface="Calibri"/>
                <a:ea typeface="Calibri"/>
                <a:cs typeface="Calibri"/>
              </a:rPr>
              <a:t>_______________________</a:t>
            </a:r>
            <a:endParaRPr/>
          </a:p>
        </p:txBody>
      </p:sp>
      <p:pic>
        <p:nvPicPr>
          <p:cNvPr id="1639912324" name="Рисунок 163991232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706188" y="1195213"/>
            <a:ext cx="668705" cy="717254"/>
          </a:xfrm>
          <a:prstGeom prst="rect">
            <a:avLst/>
          </a:prstGeom>
        </p:spPr>
      </p:pic>
      <p:sp>
        <p:nvSpPr>
          <p:cNvPr id="753771845" name="TextBox 753771844"/>
          <p:cNvSpPr txBox="1"/>
          <p:nvPr/>
        </p:nvSpPr>
        <p:spPr bwMode="auto">
          <a:xfrm>
            <a:off x="8196974" y="1845204"/>
            <a:ext cx="3255299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JavaScript (ES6+)</a:t>
            </a:r>
            <a:endParaRPr sz="1800"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Логика приложения, управление состоянием и DOM.</a:t>
            </a: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__________________________</a:t>
            </a:r>
            <a:endParaRPr/>
          </a:p>
        </p:txBody>
      </p:sp>
      <p:pic>
        <p:nvPicPr>
          <p:cNvPr id="1044927498" name="Рисунок 1044927497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8312918" y="1219488"/>
            <a:ext cx="668705" cy="668705"/>
          </a:xfrm>
          <a:prstGeom prst="rect">
            <a:avLst/>
          </a:prstGeom>
        </p:spPr>
      </p:pic>
      <p:sp>
        <p:nvSpPr>
          <p:cNvPr id="587517163" name="TextBox 587517162"/>
          <p:cNvSpPr txBox="1"/>
          <p:nvPr/>
        </p:nvSpPr>
        <p:spPr bwMode="auto">
          <a:xfrm>
            <a:off x="674043" y="4829235"/>
            <a:ext cx="3075972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localStorage</a:t>
            </a:r>
            <a:endParaRPr sz="1800"/>
          </a:p>
          <a:p>
            <a:pPr>
              <a:defRPr/>
            </a:pPr>
            <a:r>
              <a:rPr>
                <a:latin typeface="Calibri"/>
                <a:ea typeface="Calibri"/>
                <a:cs typeface="Calibri"/>
              </a:rPr>
              <a:t>Хранение данных, </a:t>
            </a:r>
            <a:r>
              <a:rPr lang="en-US">
                <a:latin typeface="Calibri"/>
                <a:ea typeface="Calibri"/>
                <a:cs typeface="Calibri"/>
              </a:rPr>
              <a:t>JSON,</a:t>
            </a:r>
            <a:r>
              <a:rPr lang="ru-RU">
                <a:latin typeface="Calibri"/>
                <a:ea typeface="Calibri"/>
                <a:cs typeface="Calibri"/>
              </a:rPr>
              <a:t> без сервера</a:t>
            </a:r>
          </a:p>
          <a:p>
            <a:pPr>
              <a:defRPr/>
            </a:pPr>
            <a:r>
              <a:rPr lang="ru-RU">
                <a:latin typeface="Calibri"/>
                <a:ea typeface="Calibri"/>
                <a:cs typeface="Calibri"/>
              </a:rPr>
              <a:t>_________________________</a:t>
            </a:r>
            <a:endParaRPr/>
          </a:p>
        </p:txBody>
      </p:sp>
      <p:pic>
        <p:nvPicPr>
          <p:cNvPr id="342076884" name="Рисунок 342076883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674043" y="4174740"/>
            <a:ext cx="728025" cy="728025"/>
          </a:xfrm>
          <a:prstGeom prst="rect">
            <a:avLst/>
          </a:prstGeom>
        </p:spPr>
      </p:pic>
      <p:sp>
        <p:nvSpPr>
          <p:cNvPr id="2062106725" name="TextBox 2062106724"/>
          <p:cNvSpPr txBox="1"/>
          <p:nvPr/>
        </p:nvSpPr>
        <p:spPr bwMode="auto">
          <a:xfrm>
            <a:off x="5437444" y="4829235"/>
            <a:ext cx="2704134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GitHub Pages</a:t>
            </a:r>
            <a:endParaRPr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деплой приложения в публичный доступ.</a:t>
            </a:r>
            <a:endParaRPr>
              <a:latin typeface="Calibri"/>
              <a:cs typeface="Calibri"/>
            </a:endParaRPr>
          </a:p>
          <a:p>
            <a:pPr>
              <a:defRPr/>
            </a:pPr>
            <a:r>
              <a:rPr lang="en-US">
                <a:latin typeface="Calibri"/>
                <a:ea typeface="Calibri"/>
                <a:cs typeface="Calibri"/>
              </a:rPr>
              <a:t>______________________</a:t>
            </a:r>
            <a:endParaRPr/>
          </a:p>
        </p:txBody>
      </p:sp>
      <p:pic>
        <p:nvPicPr>
          <p:cNvPr id="600543382" name="Рисунок 600543381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5437444" y="4104969"/>
            <a:ext cx="797796" cy="797796"/>
          </a:xfrm>
          <a:prstGeom prst="rect">
            <a:avLst/>
          </a:prstGeom>
        </p:spPr>
      </p:pic>
      <p:sp>
        <p:nvSpPr>
          <p:cNvPr id="616171533" name="TextBox 616171532"/>
          <p:cNvSpPr txBox="1"/>
          <p:nvPr/>
        </p:nvSpPr>
        <p:spPr bwMode="auto">
          <a:xfrm>
            <a:off x="449568" y="297275"/>
            <a:ext cx="6341021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ru-RU" sz="3600" b="1">
                <a:latin typeface="Calibri"/>
                <a:ea typeface="Calibri"/>
                <a:cs typeface="Calibri"/>
              </a:rPr>
              <a:t>Технологический стек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991775" name="TextBox 613991774"/>
          <p:cNvSpPr txBox="1"/>
          <p:nvPr/>
        </p:nvSpPr>
        <p:spPr bwMode="auto">
          <a:xfrm>
            <a:off x="641772" y="623272"/>
            <a:ext cx="7008874" cy="566110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ru-RU" sz="36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Архитектура приложения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latin typeface="Calibri"/>
                <a:ea typeface="Calibri"/>
                <a:cs typeface="Calibri"/>
              </a:rPr>
              <a:t>                       </a:t>
            </a:r>
            <a:r>
              <a:rPr lang="ru-RU" sz="1600">
                <a:latin typeface="Calibri"/>
                <a:ea typeface="Calibri"/>
                <a:cs typeface="Calibri"/>
              </a:rPr>
              <a:t> </a:t>
            </a:r>
            <a:r>
              <a:rPr lang="ru-RU" sz="1600" b="0" i="0" u="none" strike="noStrike" cap="none" spc="0">
                <a:latin typeface="Consolas"/>
                <a:ea typeface="Calibri"/>
                <a:cs typeface="Calibri"/>
              </a:rPr>
              <a:t>MODEL</a:t>
            </a:r>
            <a:r>
              <a:rPr lang="ru-RU" sz="1600">
                <a:latin typeface="Consolas"/>
                <a:ea typeface="Calibri"/>
                <a:cs typeface="Calibri"/>
              </a:rPr>
              <a:t>
- Данные пользователя (User)
</a:t>
            </a:r>
            <a:r>
              <a:rPr lang="ru-RU" sz="1600" b="0" i="0" u="none" strike="noStrike" cap="none" spc="0">
                <a:latin typeface="Consolas"/>
                <a:ea typeface="Calibri"/>
                <a:cs typeface="Calibri"/>
              </a:rPr>
              <a:t>- </a:t>
            </a:r>
            <a:r>
              <a:rPr lang="ru-RU" sz="1600">
                <a:latin typeface="Consolas"/>
                <a:ea typeface="Calibri"/>
                <a:cs typeface="Calibri"/>
              </a:rPr>
              <a:t>Данные рецептов (Recipe)
- Расчёт КБЖУ
- localStorage</a:t>
            </a:r>
            <a:r>
              <a:rPr lang="ru-RU" sz="1600">
                <a:latin typeface="Calibri"/>
                <a:ea typeface="Calibri"/>
                <a:cs typeface="Calibri"/>
              </a:rPr>
              <a:t> </a:t>
            </a:r>
            <a:r>
              <a:rPr lang="ru-RU" sz="1600" b="0" i="0" u="none" strike="noStrike" cap="none" spc="0">
                <a:latin typeface="Calibri"/>
                <a:ea typeface="Calibri"/>
                <a:cs typeface="Calibri"/>
              </a:rPr>
              <a:t>                  </a:t>
            </a:r>
            <a:endParaRPr sz="1600" b="0" i="0" u="none" strike="noStrike" cap="none" spc="0">
              <a:latin typeface="Calibri"/>
              <a:cs typeface="Calibri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                       ↕</a:t>
            </a: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600" b="0" i="0" u="none" strike="noStrike" cap="none" spc="0">
                <a:latin typeface="Calibri"/>
                <a:ea typeface="Calibri"/>
                <a:cs typeface="Calibri"/>
              </a:rPr>
              <a:t>                       </a:t>
            </a:r>
            <a:r>
              <a:rPr lang="ru-RU" sz="1600">
                <a:latin typeface="Calibri"/>
                <a:ea typeface="Calibri"/>
                <a:cs typeface="Calibri"/>
              </a:rPr>
              <a:t> </a:t>
            </a:r>
            <a:r>
              <a:rPr lang="ru-RU" sz="1600" b="0" i="0" u="none" strike="noStrike" cap="none" spc="0">
                <a:latin typeface="Consolas"/>
                <a:ea typeface="Calibri"/>
                <a:cs typeface="Calibri"/>
              </a:rPr>
              <a:t>VIEW</a:t>
            </a:r>
            <a:r>
              <a:rPr lang="ru-RU" sz="1600">
                <a:latin typeface="Consolas"/>
                <a:ea typeface="Calibri"/>
                <a:cs typeface="Calibri"/>
              </a:rPr>
              <a:t>
</a:t>
            </a:r>
            <a:r>
              <a:rPr lang="ru-RU" sz="1600" b="0" i="0" u="none" strike="noStrike" cap="none" spc="0">
                <a:latin typeface="Consolas"/>
                <a:ea typeface="Calibri"/>
                <a:cs typeface="Calibri"/>
              </a:rPr>
              <a:t>- </a:t>
            </a:r>
            <a:r>
              <a:rPr lang="ru-RU" sz="1600">
                <a:latin typeface="Consolas"/>
                <a:ea typeface="Calibri"/>
                <a:cs typeface="Calibri"/>
              </a:rPr>
              <a:t>Результаты расчёта
</a:t>
            </a:r>
            <a:r>
              <a:rPr lang="ru-RU" sz="1600" b="0" i="0" u="none" strike="noStrike" cap="none" spc="0">
                <a:latin typeface="Consolas"/>
                <a:ea typeface="Calibri"/>
                <a:cs typeface="Calibri"/>
              </a:rPr>
              <a:t>- </a:t>
            </a:r>
            <a:r>
              <a:rPr lang="ru-RU" sz="1600">
                <a:latin typeface="Consolas"/>
                <a:ea typeface="Calibri"/>
                <a:cs typeface="Calibri"/>
              </a:rPr>
              <a:t>Меню с рецептами
</a:t>
            </a:r>
            <a:r>
              <a:rPr lang="ru-RU" sz="1600" b="0" i="0" u="none" strike="noStrike" cap="none" spc="0">
                <a:latin typeface="Consolas"/>
                <a:ea typeface="Calibri"/>
                <a:cs typeface="Calibri"/>
              </a:rPr>
              <a:t>- </a:t>
            </a:r>
            <a:r>
              <a:rPr lang="ru-RU" sz="1600">
                <a:latin typeface="Consolas"/>
                <a:ea typeface="Calibri"/>
                <a:cs typeface="Calibri"/>
              </a:rPr>
              <a:t>Сообщения </a:t>
            </a:r>
            <a:r>
              <a:rPr lang="ru-RU" sz="1600" b="0" i="0" u="none" strike="noStrike" cap="none" spc="0">
                <a:latin typeface="Consolas"/>
                <a:ea typeface="Calibri"/>
                <a:cs typeface="Calibri"/>
              </a:rPr>
              <a:t>пользователю</a:t>
            </a:r>
            <a:r>
              <a:rPr lang="ru-RU" sz="1600">
                <a:latin typeface="Calibri"/>
                <a:ea typeface="Calibri"/>
                <a:cs typeface="Calibri"/>
              </a:rPr>
              <a:t> </a:t>
            </a:r>
            <a:r>
              <a:rPr lang="ru-RU" sz="1600" b="0" i="0" u="none" strike="noStrike" cap="none" spc="0">
                <a:latin typeface="Calibri"/>
                <a:ea typeface="Calibri"/>
                <a:cs typeface="Calibri"/>
              </a:rPr>
              <a:t>                        </a:t>
            </a:r>
            <a:endParaRPr sz="1600" b="0" i="0" u="none" strike="noStrike" cap="none" spc="0">
              <a:latin typeface="Calibri"/>
              <a:cs typeface="Calibri"/>
            </a:endParaRPr>
          </a:p>
          <a:p>
            <a:pPr>
              <a:defRPr/>
            </a:pP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                       ↕</a:t>
            </a:r>
            <a:endParaRPr sz="1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600" b="0" i="0" u="none" strike="noStrike" cap="none" spc="0">
                <a:latin typeface="Calibri"/>
                <a:ea typeface="Calibri"/>
                <a:cs typeface="Calibri"/>
              </a:rPr>
              <a:t>                 </a:t>
            </a:r>
            <a:r>
              <a:rPr lang="ru-RU" sz="1600">
                <a:latin typeface="Calibri"/>
                <a:ea typeface="Calibri"/>
                <a:cs typeface="Calibri"/>
              </a:rPr>
              <a:t> </a:t>
            </a:r>
            <a:r>
              <a:rPr lang="ru-RU" sz="1600" b="0" i="0" u="none" strike="noStrike" cap="none" spc="0">
                <a:latin typeface="Consolas"/>
                <a:ea typeface="Calibri"/>
                <a:cs typeface="Calibri"/>
              </a:rPr>
              <a:t>CONTROLLER</a:t>
            </a:r>
            <a:r>
              <a:rPr lang="ru-RU" sz="1600">
                <a:latin typeface="Consolas"/>
                <a:ea typeface="Calibri"/>
                <a:cs typeface="Calibri"/>
              </a:rPr>
              <a:t>
</a:t>
            </a:r>
            <a:r>
              <a:rPr lang="ru-RU" sz="1600" b="0" i="0" u="none" strike="noStrike" cap="none" spc="0">
                <a:latin typeface="Consolas"/>
                <a:ea typeface="Calibri"/>
                <a:cs typeface="Calibri"/>
              </a:rPr>
              <a:t>- </a:t>
            </a:r>
            <a:r>
              <a:rPr lang="ru-RU" sz="1600">
                <a:latin typeface="Consolas"/>
                <a:ea typeface="Calibri"/>
                <a:cs typeface="Calibri"/>
              </a:rPr>
              <a:t>Обработка формы
</a:t>
            </a:r>
            <a:r>
              <a:rPr lang="ru-RU" sz="1600" b="0" i="0" u="none" strike="noStrike" cap="none" spc="0">
                <a:latin typeface="Consolas"/>
                <a:ea typeface="Calibri"/>
                <a:cs typeface="Calibri"/>
              </a:rPr>
              <a:t>- </a:t>
            </a:r>
            <a:r>
              <a:rPr lang="ru-RU" sz="1600">
                <a:latin typeface="Consolas"/>
                <a:ea typeface="Calibri"/>
                <a:cs typeface="Calibri"/>
              </a:rPr>
              <a:t>Сохранение/загрузка
</a:t>
            </a:r>
            <a:r>
              <a:rPr lang="ru-RU" sz="1600" b="0" i="0" u="none" strike="noStrike" cap="none" spc="0">
                <a:latin typeface="Consolas"/>
                <a:ea typeface="Calibri"/>
                <a:cs typeface="Calibri"/>
              </a:rPr>
              <a:t>- </a:t>
            </a:r>
            <a:r>
              <a:rPr lang="ru-RU" sz="1600">
                <a:latin typeface="Consolas"/>
                <a:ea typeface="Calibri"/>
                <a:cs typeface="Calibri"/>
              </a:rPr>
              <a:t>Генерация меню
</a:t>
            </a:r>
            <a:r>
              <a:rPr lang="ru-RU" sz="1600" b="0" i="0" u="none" strike="noStrike" cap="none" spc="0">
                <a:latin typeface="Consolas"/>
                <a:ea typeface="Calibri"/>
                <a:cs typeface="Calibri"/>
              </a:rPr>
              <a:t>- </a:t>
            </a:r>
            <a:r>
              <a:rPr lang="ru-RU" sz="1600">
                <a:latin typeface="Consolas"/>
                <a:ea typeface="Calibri"/>
                <a:cs typeface="Calibri"/>
              </a:rPr>
              <a:t>Валидация</a:t>
            </a:r>
            <a:r>
              <a:rPr lang="ru-RU" sz="1600">
                <a:latin typeface="Calibri"/>
                <a:ea typeface="Calibri"/>
                <a:cs typeface="Calibri"/>
              </a:rPr>
              <a:t> </a:t>
            </a:r>
            <a:r>
              <a:rPr lang="ru-RU" sz="1800" b="0" i="0" u="none" strike="noStrike" cap="none" spc="0">
                <a:latin typeface="Calibri"/>
                <a:ea typeface="Calibri"/>
                <a:cs typeface="Calibri"/>
              </a:rPr>
              <a:t>                          </a:t>
            </a:r>
            <a:endParaRPr lang="ru-RU" sz="1800" b="0" i="0" u="none" strike="noStrike" cap="none" spc="0"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975164078" name="Rectangle 3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41773" y="623274"/>
            <a:ext cx="10905052" cy="5607881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621291-E4B9-D7CC-95EC-44E0C4470FB9}"/>
              </a:ext>
            </a:extLst>
          </p:cNvPr>
          <p:cNvSpPr txBox="1"/>
          <p:nvPr/>
        </p:nvSpPr>
        <p:spPr>
          <a:xfrm>
            <a:off x="7403790" y="1048959"/>
            <a:ext cx="3514493" cy="477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800">
                <a:ea typeface="+mn-lt"/>
                <a:cs typeface="+mn-lt"/>
              </a:rPr>
              <a:t>                    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                          ПОЛЬЗОВАТЕЛЬ               </a:t>
            </a:r>
          </a:p>
          <a:p>
            <a:r>
              <a:rPr lang="ru-RU" sz="800">
                <a:ea typeface="+mn-lt"/>
                <a:cs typeface="+mn-lt"/>
              </a:rPr>
              <a:t>                                       │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                                      ▼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                       index.html (View - интерфейс)    </a:t>
            </a:r>
          </a:p>
          <a:p>
            <a:r>
              <a:rPr lang="ru-RU" sz="800">
                <a:ea typeface="+mn-lt"/>
                <a:cs typeface="+mn-lt"/>
              </a:rPr>
              <a:t>                       - форма ввода                    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                       - кнопки                         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                       - блоки результата               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                                       │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                                      ▼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                        app.js (Controller)                    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                     обрабатывает все события                   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  handleSubmit() → берёт данные из формы и передаёт в Model    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 handleSave()   → сохраняет данные через Model                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 handleLoad()   → загружает данные из Model                  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  handleMenu()   → генерирует меню через Model                 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  данные передаются туда-сюда между View и Model               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└─────────────────────────────────────────┘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               │                     │                 │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               ▼                   ▼                ▼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  calculator.js   │      storage.js       menuGenerator.js </a:t>
            </a:r>
          </a:p>
          <a:p>
            <a:r>
              <a:rPr lang="ru-RU" sz="800">
                <a:ea typeface="+mn-lt"/>
                <a:cs typeface="+mn-lt"/>
              </a:rPr>
              <a:t>    (Model)                  (Model)           (Model)      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  • формула            • saveProfile    • 20 рецептов   </a:t>
            </a:r>
          </a:p>
          <a:p>
            <a:r>
              <a:rPr lang="ru-RU" sz="800">
                <a:ea typeface="+mn-lt"/>
                <a:cs typeface="+mn-lt"/>
              </a:rPr>
              <a:t>  • расчёт КБЖУ     • loadProfile     • генерация     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  • коэффициенты   • localStorage│    меню          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 └────────────────┼───────────────┘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                                            ▼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                          ui.js (View - отображение)    </a:t>
            </a:r>
          </a:p>
          <a:p>
            <a:r>
              <a:rPr lang="ru-RU" sz="800">
                <a:ea typeface="+mn-lt"/>
                <a:cs typeface="+mn-lt"/>
              </a:rPr>
              <a:t>                      • displayResult()  → КБЖУ         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                      • displayMenu()    → меню         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                      • showMessage()    → сообщения    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                                             │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                                            ▼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                            ПОЛЬЗОВАТЕЛЬ ВИДИТ:         </a:t>
            </a:r>
          </a:p>
          <a:p>
            <a:r>
              <a:rPr lang="ru-RU" sz="800">
                <a:ea typeface="+mn-lt"/>
                <a:cs typeface="+mn-lt"/>
              </a:rPr>
              <a:t>                      • калории, белки, жиры, углеводы   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                      • меню с рецептами                 </a:t>
            </a:r>
            <a:endParaRPr lang="ru-RU" sz="800"/>
          </a:p>
          <a:p>
            <a:r>
              <a:rPr lang="ru-RU" sz="800">
                <a:ea typeface="+mn-lt"/>
                <a:cs typeface="+mn-lt"/>
              </a:rPr>
              <a:t>                      • сообщения о сохранении/ошибках   </a:t>
            </a:r>
            <a:endParaRPr lang="ru-RU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43513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3600" b="1">
                <a:latin typeface="Calibri"/>
                <a:ea typeface="Calibri"/>
                <a:cs typeface="Calibri"/>
              </a:rPr>
              <a:t>Модель данных</a:t>
            </a:r>
            <a:endParaRPr/>
          </a:p>
        </p:txBody>
      </p:sp>
      <p:sp>
        <p:nvSpPr>
          <p:cNvPr id="949352945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lnSpcReduction="10000"/>
          </a:bodyPr>
          <a:lstStyle/>
          <a:p>
            <a:pPr>
              <a:buNone/>
              <a:defRPr/>
            </a:pP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Модель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данных</a:t>
            </a:r>
            <a:endParaRPr lang="ru-RU" dirty="0" err="1"/>
          </a:p>
          <a:p>
            <a:pPr>
              <a:buNone/>
              <a:defRPr/>
            </a:pPr>
            <a:endParaRPr lang="ru-RU"/>
          </a:p>
          <a:p>
            <a:pPr>
              <a:buNone/>
              <a:defRPr/>
            </a:pPr>
            <a:r>
              <a:rPr lang="en-US" sz="1800" dirty="0">
                <a:ea typeface="+mn-lt"/>
                <a:cs typeface="+mn-lt"/>
              </a:rPr>
              <a:t>- </a:t>
            </a:r>
            <a:r>
              <a:rPr lang="en-US" sz="1800" b="0" i="0" u="none" strike="noStrike" cap="none" spc="0" dirty="0">
                <a:ea typeface="+mn-lt"/>
                <a:cs typeface="+mn-lt"/>
              </a:rPr>
              <a:t>id — </a:t>
            </a:r>
            <a:r>
              <a:rPr lang="en-US" sz="1800" b="0" i="0" u="none" strike="noStrike" cap="none" spc="0" dirty="0" err="1">
                <a:ea typeface="+mn-lt"/>
                <a:cs typeface="+mn-lt"/>
              </a:rPr>
              <a:t>уникальный</a:t>
            </a:r>
            <a:r>
              <a:rPr lang="en-US" sz="1800" b="0" i="0" u="none" strike="noStrike" cap="none" spc="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идентификатор</a:t>
            </a:r>
            <a:r>
              <a:rPr lang="en-US" sz="1800" dirty="0">
                <a:ea typeface="+mn-lt"/>
                <a:cs typeface="+mn-lt"/>
              </a:rPr>
              <a:t> (</a:t>
            </a:r>
            <a:r>
              <a:rPr lang="en-US" sz="1800" dirty="0" err="1">
                <a:ea typeface="+mn-lt"/>
                <a:cs typeface="+mn-lt"/>
              </a:rPr>
              <a:t>число</a:t>
            </a:r>
            <a:r>
              <a:rPr lang="en-US" sz="1800" dirty="0">
                <a:ea typeface="+mn-lt"/>
                <a:cs typeface="+mn-lt"/>
              </a:rPr>
              <a:t>)</a:t>
            </a:r>
            <a:endParaRPr lang="ru-RU" dirty="0"/>
          </a:p>
          <a:p>
            <a:pPr>
              <a:buNone/>
              <a:defRPr/>
            </a:pPr>
            <a:r>
              <a:rPr lang="en-US" sz="1800" dirty="0">
                <a:ea typeface="+mn-lt"/>
                <a:cs typeface="+mn-lt"/>
              </a:rPr>
              <a:t>- name — </a:t>
            </a:r>
            <a:r>
              <a:rPr lang="en-US" sz="1800" dirty="0" err="1">
                <a:ea typeface="+mn-lt"/>
                <a:cs typeface="+mn-lt"/>
              </a:rPr>
              <a:t>название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блюда</a:t>
            </a:r>
            <a:r>
              <a:rPr lang="en-US" sz="1800" dirty="0">
                <a:ea typeface="+mn-lt"/>
                <a:cs typeface="+mn-lt"/>
              </a:rPr>
              <a:t> (</a:t>
            </a:r>
            <a:r>
              <a:rPr lang="en-US" sz="1800" dirty="0" err="1">
                <a:ea typeface="+mn-lt"/>
                <a:cs typeface="+mn-lt"/>
              </a:rPr>
              <a:t>строка</a:t>
            </a:r>
            <a:r>
              <a:rPr lang="en-US" sz="1800" dirty="0">
                <a:ea typeface="+mn-lt"/>
                <a:cs typeface="+mn-lt"/>
              </a:rPr>
              <a:t>)</a:t>
            </a:r>
            <a:endParaRPr lang="ru-RU" dirty="0"/>
          </a:p>
          <a:p>
            <a:pPr>
              <a:buNone/>
              <a:defRPr/>
            </a:pPr>
            <a:r>
              <a:rPr lang="en-US" sz="1800" dirty="0">
                <a:ea typeface="+mn-lt"/>
                <a:cs typeface="+mn-lt"/>
              </a:rPr>
              <a:t>- type — </a:t>
            </a:r>
            <a:r>
              <a:rPr lang="en-US" sz="1800" dirty="0" err="1">
                <a:ea typeface="+mn-lt"/>
                <a:cs typeface="+mn-lt"/>
              </a:rPr>
              <a:t>тип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приёма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пищи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b="0" i="0" u="none" strike="noStrike" cap="none" spc="0" dirty="0">
                <a:ea typeface="+mn-lt"/>
                <a:cs typeface="+mn-lt"/>
              </a:rPr>
              <a:t>(</a:t>
            </a:r>
            <a:r>
              <a:rPr lang="en-US" sz="1800" dirty="0" err="1">
                <a:ea typeface="+mn-lt"/>
                <a:cs typeface="+mn-lt"/>
              </a:rPr>
              <a:t>завтрак</a:t>
            </a:r>
            <a:r>
              <a:rPr lang="en-US" sz="1800" dirty="0">
                <a:ea typeface="+mn-lt"/>
                <a:cs typeface="+mn-lt"/>
              </a:rPr>
              <a:t>/</a:t>
            </a:r>
            <a:r>
              <a:rPr lang="en-US" sz="1800" dirty="0" err="1">
                <a:ea typeface="+mn-lt"/>
                <a:cs typeface="+mn-lt"/>
              </a:rPr>
              <a:t>обед</a:t>
            </a:r>
            <a:r>
              <a:rPr lang="en-US" sz="1800" dirty="0">
                <a:ea typeface="+mn-lt"/>
                <a:cs typeface="+mn-lt"/>
              </a:rPr>
              <a:t>/</a:t>
            </a:r>
            <a:r>
              <a:rPr lang="en-US" sz="1800" dirty="0" err="1">
                <a:ea typeface="+mn-lt"/>
                <a:cs typeface="+mn-lt"/>
              </a:rPr>
              <a:t>ужин</a:t>
            </a:r>
            <a:r>
              <a:rPr lang="en-US" sz="1800" dirty="0">
                <a:ea typeface="+mn-lt"/>
                <a:cs typeface="+mn-lt"/>
              </a:rPr>
              <a:t>/</a:t>
            </a:r>
            <a:r>
              <a:rPr lang="en-US" sz="1800" dirty="0" err="1">
                <a:ea typeface="+mn-lt"/>
                <a:cs typeface="+mn-lt"/>
              </a:rPr>
              <a:t>перекус</a:t>
            </a:r>
            <a:r>
              <a:rPr lang="en-US" sz="1800" b="0" i="0" u="none" strike="noStrike" cap="none" spc="0" dirty="0">
                <a:ea typeface="+mn-lt"/>
                <a:cs typeface="+mn-lt"/>
              </a:rPr>
              <a:t>)</a:t>
            </a:r>
            <a:endParaRPr lang="en-US" dirty="0">
              <a:ea typeface="+mn-lt"/>
              <a:cs typeface="+mn-lt"/>
            </a:endParaRPr>
          </a:p>
          <a:p>
            <a:pPr>
              <a:buNone/>
              <a:defRPr/>
            </a:pPr>
            <a:r>
              <a:rPr lang="en-US" sz="1800" dirty="0">
                <a:ea typeface="+mn-lt"/>
                <a:cs typeface="+mn-lt"/>
              </a:rPr>
              <a:t>- calories </a:t>
            </a:r>
            <a:r>
              <a:rPr lang="en-US" sz="1800" b="0" i="0" u="none" strike="noStrike" cap="none" spc="0" dirty="0">
                <a:ea typeface="+mn-lt"/>
                <a:cs typeface="+mn-lt"/>
              </a:rPr>
              <a:t>— </a:t>
            </a:r>
            <a:r>
              <a:rPr lang="en-US" sz="1800" dirty="0" err="1">
                <a:ea typeface="+mn-lt"/>
                <a:cs typeface="+mn-lt"/>
              </a:rPr>
              <a:t>калорийность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b="0" i="0" u="none" strike="noStrike" cap="none" spc="0" dirty="0">
                <a:ea typeface="+mn-lt"/>
                <a:cs typeface="+mn-lt"/>
              </a:rPr>
              <a:t>(</a:t>
            </a:r>
            <a:r>
              <a:rPr lang="en-US" sz="1800" b="0" i="0" u="none" strike="noStrike" cap="none" spc="0" dirty="0" err="1">
                <a:ea typeface="+mn-lt"/>
                <a:cs typeface="+mn-lt"/>
              </a:rPr>
              <a:t>число</a:t>
            </a:r>
            <a:r>
              <a:rPr lang="en-US" sz="1800" b="0" i="0" u="none" strike="noStrike" cap="none" spc="0" dirty="0">
                <a:ea typeface="+mn-lt"/>
                <a:cs typeface="+mn-lt"/>
              </a:rPr>
              <a:t>)</a:t>
            </a:r>
            <a:endParaRPr lang="en-US" dirty="0">
              <a:ea typeface="+mn-lt"/>
              <a:cs typeface="+mn-lt"/>
            </a:endParaRPr>
          </a:p>
          <a:p>
            <a:pPr>
              <a:buNone/>
              <a:defRPr/>
            </a:pPr>
            <a:r>
              <a:rPr lang="en-US" sz="1800" dirty="0">
                <a:ea typeface="+mn-lt"/>
                <a:cs typeface="+mn-lt"/>
              </a:rPr>
              <a:t>- proteins — </a:t>
            </a:r>
            <a:r>
              <a:rPr lang="en-US" sz="1800" dirty="0" err="1">
                <a:ea typeface="+mn-lt"/>
                <a:cs typeface="+mn-lt"/>
              </a:rPr>
              <a:t>содержание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белков</a:t>
            </a:r>
            <a:r>
              <a:rPr lang="en-US" sz="1800" dirty="0">
                <a:ea typeface="+mn-lt"/>
                <a:cs typeface="+mn-lt"/>
              </a:rPr>
              <a:t> (</a:t>
            </a:r>
            <a:r>
              <a:rPr lang="en-US" sz="1800" dirty="0" err="1">
                <a:ea typeface="+mn-lt"/>
                <a:cs typeface="+mn-lt"/>
              </a:rPr>
              <a:t>граммы</a:t>
            </a:r>
            <a:r>
              <a:rPr lang="en-US" sz="1800" dirty="0">
                <a:ea typeface="+mn-lt"/>
                <a:cs typeface="+mn-lt"/>
              </a:rPr>
              <a:t>)</a:t>
            </a:r>
            <a:endParaRPr lang="ru-RU" dirty="0"/>
          </a:p>
          <a:p>
            <a:pPr>
              <a:buNone/>
              <a:defRPr/>
            </a:pPr>
            <a:r>
              <a:rPr lang="en-US" sz="1800" dirty="0">
                <a:ea typeface="+mn-lt"/>
                <a:cs typeface="+mn-lt"/>
              </a:rPr>
              <a:t>- fats — </a:t>
            </a:r>
            <a:r>
              <a:rPr lang="en-US" sz="1800" dirty="0" err="1">
                <a:ea typeface="+mn-lt"/>
                <a:cs typeface="+mn-lt"/>
              </a:rPr>
              <a:t>содержание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жиров</a:t>
            </a:r>
            <a:r>
              <a:rPr lang="en-US" sz="1800" dirty="0">
                <a:ea typeface="+mn-lt"/>
                <a:cs typeface="+mn-lt"/>
              </a:rPr>
              <a:t> (</a:t>
            </a:r>
            <a:r>
              <a:rPr lang="en-US" sz="1800" dirty="0" err="1">
                <a:ea typeface="+mn-lt"/>
                <a:cs typeface="+mn-lt"/>
              </a:rPr>
              <a:t>граммы</a:t>
            </a:r>
            <a:r>
              <a:rPr lang="en-US" sz="1800" dirty="0">
                <a:ea typeface="+mn-lt"/>
                <a:cs typeface="+mn-lt"/>
              </a:rPr>
              <a:t>)</a:t>
            </a:r>
            <a:endParaRPr lang="ru-RU" dirty="0"/>
          </a:p>
          <a:p>
            <a:pPr>
              <a:buNone/>
              <a:defRPr/>
            </a:pPr>
            <a:r>
              <a:rPr lang="en-US" sz="1800" dirty="0">
                <a:ea typeface="+mn-lt"/>
                <a:cs typeface="+mn-lt"/>
              </a:rPr>
              <a:t>- carbs </a:t>
            </a:r>
            <a:r>
              <a:rPr lang="en-US" sz="1800" b="0" i="0" u="none" strike="noStrike" cap="none" spc="0" dirty="0">
                <a:ea typeface="+mn-lt"/>
                <a:cs typeface="+mn-lt"/>
              </a:rPr>
              <a:t>— </a:t>
            </a:r>
            <a:r>
              <a:rPr lang="en-US" sz="1800" dirty="0" err="1">
                <a:ea typeface="+mn-lt"/>
                <a:cs typeface="+mn-lt"/>
              </a:rPr>
              <a:t>содержание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углеводов</a:t>
            </a:r>
            <a:r>
              <a:rPr lang="en-US" sz="1800" dirty="0">
                <a:ea typeface="+mn-lt"/>
                <a:cs typeface="+mn-lt"/>
              </a:rPr>
              <a:t> (</a:t>
            </a:r>
            <a:r>
              <a:rPr lang="en-US" sz="1800" dirty="0" err="1">
                <a:ea typeface="+mn-lt"/>
                <a:cs typeface="+mn-lt"/>
              </a:rPr>
              <a:t>граммы</a:t>
            </a:r>
            <a:r>
              <a:rPr lang="en-US" sz="1800" dirty="0">
                <a:ea typeface="+mn-lt"/>
                <a:cs typeface="+mn-lt"/>
              </a:rPr>
              <a:t>)</a:t>
            </a:r>
            <a:endParaRPr dirty="0"/>
          </a:p>
          <a:p>
            <a:pPr>
              <a:buNone/>
              <a:defRPr/>
            </a:pPr>
            <a:r>
              <a:rPr lang="en-US" sz="1800" dirty="0">
                <a:ea typeface="+mn-lt"/>
                <a:cs typeface="+mn-lt"/>
              </a:rPr>
              <a:t>- portion </a:t>
            </a:r>
            <a:r>
              <a:rPr lang="en-US" sz="1800" b="0" i="0" u="none" strike="noStrike" cap="none" spc="0" dirty="0">
                <a:ea typeface="+mn-lt"/>
                <a:cs typeface="+mn-lt"/>
              </a:rPr>
              <a:t>— </a:t>
            </a:r>
            <a:r>
              <a:rPr lang="en-US" sz="1800" dirty="0" err="1">
                <a:ea typeface="+mn-lt"/>
                <a:cs typeface="+mn-lt"/>
              </a:rPr>
              <a:t>размер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порции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b="0" i="0" u="none" strike="noStrike" cap="none" spc="0" dirty="0">
                <a:ea typeface="+mn-lt"/>
                <a:cs typeface="+mn-lt"/>
              </a:rPr>
              <a:t>(</a:t>
            </a:r>
            <a:r>
              <a:rPr lang="en-US" sz="1800" dirty="0" err="1">
                <a:ea typeface="+mn-lt"/>
                <a:cs typeface="+mn-lt"/>
              </a:rPr>
              <a:t>строка</a:t>
            </a:r>
            <a:r>
              <a:rPr lang="en-US" sz="1800" dirty="0">
                <a:ea typeface="+mn-lt"/>
                <a:cs typeface="+mn-lt"/>
              </a:rPr>
              <a:t>)</a:t>
            </a:r>
            <a:endParaRPr dirty="0"/>
          </a:p>
          <a:p>
            <a:pPr>
              <a:buNone/>
              <a:defRPr/>
            </a:pPr>
            <a:r>
              <a:rPr lang="en-US" sz="1800" dirty="0">
                <a:ea typeface="+mn-lt"/>
                <a:cs typeface="+mn-lt"/>
              </a:rPr>
              <a:t>- ingredients </a:t>
            </a:r>
            <a:r>
              <a:rPr lang="en-US" sz="1800" b="0" i="0" u="none" strike="noStrike" cap="none" spc="0" dirty="0">
                <a:ea typeface="+mn-lt"/>
                <a:cs typeface="+mn-lt"/>
              </a:rPr>
              <a:t>— </a:t>
            </a:r>
            <a:r>
              <a:rPr lang="en-US" sz="1800" dirty="0" err="1">
                <a:ea typeface="+mn-lt"/>
                <a:cs typeface="+mn-lt"/>
              </a:rPr>
              <a:t>список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ингредиентов</a:t>
            </a:r>
            <a:r>
              <a:rPr lang="en-US" sz="1800" dirty="0">
                <a:ea typeface="+mn-lt"/>
                <a:cs typeface="+mn-lt"/>
              </a:rPr>
              <a:t> (</a:t>
            </a:r>
            <a:r>
              <a:rPr lang="en-US" sz="1800" dirty="0" err="1">
                <a:ea typeface="+mn-lt"/>
                <a:cs typeface="+mn-lt"/>
              </a:rPr>
              <a:t>строка</a:t>
            </a:r>
            <a:r>
              <a:rPr lang="en-US" sz="1800" dirty="0">
                <a:ea typeface="+mn-lt"/>
                <a:cs typeface="+mn-lt"/>
              </a:rPr>
              <a:t>)</a:t>
            </a:r>
            <a:endParaRPr dirty="0"/>
          </a:p>
          <a:p>
            <a:pPr marL="0" indent="0">
              <a:buNone/>
              <a:defRPr/>
            </a:pPr>
            <a:r>
              <a:rPr lang="en-US" sz="1800" dirty="0">
                <a:ea typeface="+mn-lt"/>
                <a:cs typeface="+mn-lt"/>
              </a:rPr>
              <a:t>- instruction </a:t>
            </a:r>
            <a:r>
              <a:rPr lang="en-US" sz="1800" b="0" i="0" u="none" strike="noStrike" cap="none" spc="0" dirty="0">
                <a:ea typeface="+mn-lt"/>
                <a:cs typeface="+mn-lt"/>
              </a:rPr>
              <a:t>— </a:t>
            </a:r>
            <a:r>
              <a:rPr lang="en-US" sz="1800" dirty="0" err="1">
                <a:ea typeface="+mn-lt"/>
                <a:cs typeface="+mn-lt"/>
              </a:rPr>
              <a:t>инструкция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приготовления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b="0" i="0" u="none" strike="noStrike" cap="none" spc="0" dirty="0">
                <a:ea typeface="+mn-lt"/>
                <a:cs typeface="+mn-lt"/>
              </a:rPr>
              <a:t>(</a:t>
            </a:r>
            <a:r>
              <a:rPr lang="en-US" sz="1800" dirty="0" err="1">
                <a:ea typeface="+mn-lt"/>
                <a:cs typeface="+mn-lt"/>
              </a:rPr>
              <a:t>строка</a:t>
            </a:r>
            <a:r>
              <a:rPr lang="en-US" sz="1800" b="0" i="0" u="none" strike="noStrike" cap="none" spc="0" dirty="0">
                <a:ea typeface="+mn-lt"/>
                <a:cs typeface="+mn-lt"/>
              </a:rPr>
              <a:t>)</a:t>
            </a:r>
            <a:endParaRPr lang="en-US" dirty="0">
              <a:ea typeface="+mn-lt"/>
              <a:cs typeface="+mn-lt"/>
            </a:endParaRPr>
          </a:p>
          <a:p>
            <a:pPr>
              <a:defRPr/>
            </a:pPr>
            <a:endParaRPr lang="ru-RU" sz="1800" b="0" i="0" u="none" strike="noStrike" cap="none" spc="0"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269348-97DB-A898-0ABF-3BD4AF977F71}"/>
              </a:ext>
            </a:extLst>
          </p:cNvPr>
          <p:cNvSpPr txBox="1"/>
          <p:nvPr/>
        </p:nvSpPr>
        <p:spPr>
          <a:xfrm>
            <a:off x="7418163" y="145214"/>
            <a:ext cx="414639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>
                <a:ea typeface="+mn-lt"/>
                <a:cs typeface="+mn-lt"/>
              </a:rPr>
              <a:t>Модель данных пользователя</a:t>
            </a:r>
            <a:endParaRPr lang="ru-RU"/>
          </a:p>
          <a:p>
            <a:endParaRPr lang="ru-RU"/>
          </a:p>
          <a:p>
            <a:r>
              <a:rPr lang="ru-RU">
                <a:ea typeface="+mn-lt"/>
                <a:cs typeface="+mn-lt"/>
              </a:rPr>
              <a:t>- age — возраст (лет)</a:t>
            </a:r>
            <a:endParaRPr lang="ru-RU"/>
          </a:p>
          <a:p>
            <a:r>
              <a:rPr lang="ru-RU">
                <a:ea typeface="+mn-lt"/>
                <a:cs typeface="+mn-lt"/>
              </a:rPr>
              <a:t>- weight — вес (кг)</a:t>
            </a:r>
            <a:endParaRPr lang="ru-RU"/>
          </a:p>
          <a:p>
            <a:r>
              <a:rPr lang="ru-RU">
                <a:ea typeface="+mn-lt"/>
                <a:cs typeface="+mn-lt"/>
              </a:rPr>
              <a:t>- height — рост (см)</a:t>
            </a:r>
            <a:endParaRPr lang="ru-RU"/>
          </a:p>
          <a:p>
            <a:r>
              <a:rPr lang="ru-RU">
                <a:ea typeface="+mn-lt"/>
                <a:cs typeface="+mn-lt"/>
              </a:rPr>
              <a:t>- gender — пол (мужской/женский)</a:t>
            </a:r>
            <a:endParaRPr lang="ru-RU"/>
          </a:p>
          <a:p>
            <a:r>
              <a:rPr lang="ru-RU">
                <a:ea typeface="+mn-lt"/>
                <a:cs typeface="+mn-lt"/>
              </a:rPr>
              <a:t>- goal — цель (похудение/поддержание/набор массы)</a:t>
            </a:r>
            <a:endParaRPr lang="ru-RU"/>
          </a:p>
          <a:p>
            <a:r>
              <a:rPr lang="ru-RU">
                <a:ea typeface="+mn-lt"/>
                <a:cs typeface="+mn-lt"/>
              </a:rPr>
              <a:t>- activity — уровень активности (низкая/средняя/высокая)</a:t>
            </a:r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947AFE-C55C-199B-8B4E-0932F4684A12}"/>
              </a:ext>
            </a:extLst>
          </p:cNvPr>
          <p:cNvSpPr txBox="1"/>
          <p:nvPr/>
        </p:nvSpPr>
        <p:spPr>
          <a:xfrm>
            <a:off x="7415809" y="3278211"/>
            <a:ext cx="3068443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>
                <a:ea typeface="+mn-lt"/>
                <a:cs typeface="+mn-lt"/>
              </a:rPr>
              <a:t>Модель данных </a:t>
            </a:r>
            <a:r>
              <a:rPr lang="ru-RU" dirty="0">
                <a:ea typeface="+mn-lt"/>
                <a:cs typeface="+mn-lt"/>
              </a:rPr>
              <a:t>профиля</a:t>
            </a:r>
            <a:endParaRPr lang="ru-RU" dirty="0"/>
          </a:p>
          <a:p>
            <a:endParaRPr lang="ru-RU"/>
          </a:p>
          <a:p>
            <a:r>
              <a:rPr lang="ru-RU">
                <a:ea typeface="+mn-lt"/>
                <a:cs typeface="+mn-lt"/>
              </a:rPr>
              <a:t>- user — объект с данными пользователя</a:t>
            </a:r>
            <a:endParaRPr lang="ru-RU"/>
          </a:p>
          <a:p>
            <a:r>
              <a:rPr lang="ru-RU">
                <a:ea typeface="+mn-lt"/>
                <a:cs typeface="+mn-lt"/>
              </a:rPr>
              <a:t>- kbju — объект с результатами расчёта</a:t>
            </a:r>
            <a:endParaRPr lang="ru-RU"/>
          </a:p>
          <a:p>
            <a:r>
              <a:rPr lang="ru-RU">
                <a:ea typeface="+mn-lt"/>
                <a:cs typeface="+mn-lt"/>
              </a:rPr>
              <a:t>- savedAt — дата и время сохранения</a:t>
            </a:r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438531" name="Объект 2"/>
          <p:cNvSpPr>
            <a:spLocks noGrp="1"/>
          </p:cNvSpPr>
          <p:nvPr>
            <p:ph idx="1"/>
          </p:nvPr>
        </p:nvSpPr>
        <p:spPr bwMode="auto">
          <a:xfrm>
            <a:off x="3077" y="515684"/>
            <a:ext cx="8337577" cy="575483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Autofit/>
          </a:bodyPr>
          <a:lstStyle/>
          <a:p>
            <a:pPr>
              <a:defRPr/>
            </a:pPr>
            <a:r>
              <a:rPr lang="en-US" sz="1200" dirty="0">
                <a:ea typeface="+mn-lt"/>
                <a:cs typeface="+mn-lt"/>
              </a:rPr>
              <a:t># </a:t>
            </a:r>
            <a:r>
              <a:rPr lang="en-US" sz="1200" dirty="0" err="1">
                <a:ea typeface="+mn-lt"/>
                <a:cs typeface="+mn-lt"/>
              </a:rPr>
              <a:t>Основные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функции</a:t>
            </a:r>
            <a:endParaRPr lang="ru-RU" sz="1200" dirty="0" err="1">
              <a:latin typeface="Arial"/>
              <a:ea typeface="+mn-lt"/>
              <a:cs typeface="Arial"/>
            </a:endParaRPr>
          </a:p>
          <a:p>
            <a:pPr>
              <a:defRPr/>
            </a:pPr>
            <a:endParaRPr lang="en-US" sz="1200"/>
          </a:p>
          <a:p>
            <a:pPr>
              <a:defRPr/>
            </a:pPr>
            <a:r>
              <a:rPr lang="en-US" sz="1200" i="0" u="none" dirty="0">
                <a:ea typeface="+mn-lt"/>
                <a:cs typeface="+mn-lt"/>
              </a:rPr>
              <a:t>1. </a:t>
            </a:r>
            <a:r>
              <a:rPr lang="en-US" sz="1200" dirty="0" err="1">
                <a:ea typeface="+mn-lt"/>
                <a:cs typeface="+mn-lt"/>
              </a:rPr>
              <a:t>Расчёт</a:t>
            </a:r>
            <a:r>
              <a:rPr lang="en-US" sz="1200" dirty="0">
                <a:ea typeface="+mn-lt"/>
                <a:cs typeface="+mn-lt"/>
              </a:rPr>
              <a:t> КБЖУ</a:t>
            </a:r>
            <a:endParaRPr sz="1200" dirty="0">
              <a:ea typeface="+mn-lt"/>
              <a:cs typeface="+mn-lt"/>
            </a:endParaRPr>
          </a:p>
          <a:p>
            <a:pPr>
              <a:defRPr/>
            </a:pPr>
            <a:r>
              <a:rPr lang="en-US" sz="1200" dirty="0">
                <a:ea typeface="+mn-lt"/>
                <a:cs typeface="+mn-lt"/>
              </a:rPr>
              <a:t>- </a:t>
            </a:r>
            <a:r>
              <a:rPr lang="en-US" sz="1200" dirty="0" err="1">
                <a:ea typeface="+mn-lt"/>
                <a:cs typeface="+mn-lt"/>
              </a:rPr>
              <a:t>Ввод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возраста</a:t>
            </a:r>
            <a:r>
              <a:rPr lang="en-US" sz="1200" dirty="0">
                <a:ea typeface="+mn-lt"/>
                <a:cs typeface="+mn-lt"/>
              </a:rPr>
              <a:t>, </a:t>
            </a:r>
            <a:r>
              <a:rPr lang="en-US" sz="1200" dirty="0" err="1">
                <a:ea typeface="+mn-lt"/>
                <a:cs typeface="+mn-lt"/>
              </a:rPr>
              <a:t>веса</a:t>
            </a:r>
            <a:r>
              <a:rPr lang="en-US" sz="1200" dirty="0">
                <a:ea typeface="+mn-lt"/>
                <a:cs typeface="+mn-lt"/>
              </a:rPr>
              <a:t>, </a:t>
            </a:r>
            <a:r>
              <a:rPr lang="en-US" sz="1200" dirty="0" err="1">
                <a:ea typeface="+mn-lt"/>
                <a:cs typeface="+mn-lt"/>
              </a:rPr>
              <a:t>роста</a:t>
            </a:r>
            <a:r>
              <a:rPr lang="en-US" sz="1200" b="0" i="0" u="none" dirty="0">
                <a:ea typeface="+mn-lt"/>
                <a:cs typeface="+mn-lt"/>
              </a:rPr>
              <a:t>, </a:t>
            </a:r>
            <a:r>
              <a:rPr lang="en-US" sz="1200" dirty="0" err="1">
                <a:ea typeface="+mn-lt"/>
                <a:cs typeface="+mn-lt"/>
              </a:rPr>
              <a:t>пола</a:t>
            </a:r>
            <a:r>
              <a:rPr lang="en-US" sz="1200" b="0" i="0" u="none" dirty="0">
                <a:ea typeface="+mn-lt"/>
                <a:cs typeface="+mn-lt"/>
              </a:rPr>
              <a:t>, </a:t>
            </a:r>
            <a:r>
              <a:rPr lang="en-US" sz="1200" dirty="0" err="1">
                <a:ea typeface="+mn-lt"/>
                <a:cs typeface="+mn-lt"/>
              </a:rPr>
              <a:t>цели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b="0" i="0" u="none" dirty="0">
                <a:ea typeface="+mn-lt"/>
                <a:cs typeface="+mn-lt"/>
              </a:rPr>
              <a:t>и </a:t>
            </a:r>
            <a:r>
              <a:rPr lang="en-US" sz="1200" dirty="0" err="1">
                <a:ea typeface="+mn-lt"/>
                <a:cs typeface="+mn-lt"/>
              </a:rPr>
              <a:t>активности</a:t>
            </a:r>
            <a:endParaRPr lang="en-US" sz="1200" dirty="0" err="1"/>
          </a:p>
          <a:p>
            <a:pPr>
              <a:defRPr/>
            </a:pPr>
            <a:r>
              <a:rPr lang="en-US" sz="1200" dirty="0">
                <a:ea typeface="+mn-lt"/>
                <a:cs typeface="+mn-lt"/>
              </a:rPr>
              <a:t>- </a:t>
            </a:r>
            <a:r>
              <a:rPr lang="en-US" sz="1200" dirty="0" err="1">
                <a:ea typeface="+mn-lt"/>
                <a:cs typeface="+mn-lt"/>
              </a:rPr>
              <a:t>Расчёт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по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формуле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Миффлина-Сан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Жеора</a:t>
            </a:r>
            <a:endParaRPr sz="1200" dirty="0" err="1"/>
          </a:p>
          <a:p>
            <a:pPr>
              <a:defRPr/>
            </a:pPr>
            <a:r>
              <a:rPr lang="en-US" sz="1200" dirty="0">
                <a:ea typeface="+mn-lt"/>
                <a:cs typeface="+mn-lt"/>
              </a:rPr>
              <a:t>- </a:t>
            </a:r>
            <a:r>
              <a:rPr lang="en-US" sz="1200" dirty="0" err="1">
                <a:ea typeface="+mn-lt"/>
                <a:cs typeface="+mn-lt"/>
              </a:rPr>
              <a:t>Вывод</a:t>
            </a:r>
            <a:r>
              <a:rPr lang="en-US" sz="1200" dirty="0">
                <a:ea typeface="+mn-lt"/>
                <a:cs typeface="+mn-lt"/>
              </a:rPr>
              <a:t>: </a:t>
            </a:r>
            <a:r>
              <a:rPr lang="en-US" sz="1200" dirty="0" err="1">
                <a:ea typeface="+mn-lt"/>
                <a:cs typeface="+mn-lt"/>
              </a:rPr>
              <a:t>калории</a:t>
            </a:r>
            <a:r>
              <a:rPr lang="en-US" sz="1200" dirty="0">
                <a:ea typeface="+mn-lt"/>
                <a:cs typeface="+mn-lt"/>
              </a:rPr>
              <a:t>, </a:t>
            </a:r>
            <a:r>
              <a:rPr lang="en-US" sz="1200" dirty="0" err="1">
                <a:ea typeface="+mn-lt"/>
                <a:cs typeface="+mn-lt"/>
              </a:rPr>
              <a:t>белки</a:t>
            </a:r>
            <a:r>
              <a:rPr lang="en-US" sz="1200" dirty="0">
                <a:ea typeface="+mn-lt"/>
                <a:cs typeface="+mn-lt"/>
              </a:rPr>
              <a:t>, </a:t>
            </a:r>
            <a:r>
              <a:rPr lang="en-US" sz="1200" dirty="0" err="1">
                <a:ea typeface="+mn-lt"/>
                <a:cs typeface="+mn-lt"/>
              </a:rPr>
              <a:t>жиры</a:t>
            </a:r>
            <a:r>
              <a:rPr lang="en-US" sz="1200" dirty="0">
                <a:ea typeface="+mn-lt"/>
                <a:cs typeface="+mn-lt"/>
              </a:rPr>
              <a:t>, </a:t>
            </a:r>
            <a:r>
              <a:rPr lang="en-US" sz="1200" dirty="0" err="1">
                <a:ea typeface="+mn-lt"/>
                <a:cs typeface="+mn-lt"/>
              </a:rPr>
              <a:t>углеводы</a:t>
            </a:r>
            <a:endParaRPr lang="ru-RU" sz="1200" dirty="0" err="1">
              <a:ea typeface="+mn-lt"/>
              <a:cs typeface="+mn-lt"/>
            </a:endParaRPr>
          </a:p>
          <a:p>
            <a:pPr>
              <a:defRPr/>
            </a:pPr>
            <a:r>
              <a:rPr lang="en-US" sz="1200" i="0" u="none" dirty="0">
                <a:ea typeface="+mn-lt"/>
                <a:cs typeface="+mn-lt"/>
              </a:rPr>
              <a:t>2. </a:t>
            </a:r>
            <a:r>
              <a:rPr lang="en-US" sz="1200" dirty="0" err="1">
                <a:ea typeface="+mn-lt"/>
                <a:cs typeface="+mn-lt"/>
              </a:rPr>
              <a:t>Сохранение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профиля</a:t>
            </a:r>
            <a:endParaRPr lang="ru-RU" sz="1200" dirty="0" err="1">
              <a:ea typeface="+mn-lt"/>
              <a:cs typeface="+mn-lt"/>
            </a:endParaRPr>
          </a:p>
          <a:p>
            <a:pPr>
              <a:defRPr/>
            </a:pPr>
            <a:r>
              <a:rPr lang="en-US" sz="1200" dirty="0">
                <a:ea typeface="+mn-lt"/>
                <a:cs typeface="+mn-lt"/>
              </a:rPr>
              <a:t>- </a:t>
            </a:r>
            <a:r>
              <a:rPr lang="en-US" sz="1200" dirty="0" err="1">
                <a:ea typeface="+mn-lt"/>
                <a:cs typeface="+mn-lt"/>
              </a:rPr>
              <a:t>Сохранение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данных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b="0" i="0" u="none" dirty="0">
                <a:ea typeface="+mn-lt"/>
                <a:cs typeface="+mn-lt"/>
              </a:rPr>
              <a:t>в </a:t>
            </a:r>
            <a:r>
              <a:rPr lang="en-US" sz="1200" dirty="0" err="1">
                <a:ea typeface="+mn-lt"/>
                <a:cs typeface="+mn-lt"/>
              </a:rPr>
              <a:t>localStorage</a:t>
            </a:r>
            <a:endParaRPr sz="1200" dirty="0" err="1">
              <a:ea typeface="+mn-lt"/>
              <a:cs typeface="+mn-lt"/>
            </a:endParaRPr>
          </a:p>
          <a:p>
            <a:pPr>
              <a:defRPr/>
            </a:pPr>
            <a:r>
              <a:rPr lang="en-US" sz="1200" dirty="0">
                <a:ea typeface="+mn-lt"/>
                <a:cs typeface="+mn-lt"/>
              </a:rPr>
              <a:t>- </a:t>
            </a:r>
            <a:r>
              <a:rPr lang="en-US" sz="1200" dirty="0" err="1">
                <a:ea typeface="+mn-lt"/>
                <a:cs typeface="+mn-lt"/>
              </a:rPr>
              <a:t>Загрузка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сохранённого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профиля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одной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кнопкой</a:t>
            </a:r>
            <a:endParaRPr sz="1200" dirty="0" err="1">
              <a:ea typeface="+mn-lt"/>
              <a:cs typeface="+mn-lt"/>
            </a:endParaRPr>
          </a:p>
          <a:p>
            <a:pPr>
              <a:defRPr/>
            </a:pPr>
            <a:r>
              <a:rPr lang="en-US" sz="1200" i="0" u="none" dirty="0">
                <a:ea typeface="+mn-lt"/>
                <a:cs typeface="+mn-lt"/>
              </a:rPr>
              <a:t>3. </a:t>
            </a:r>
            <a:r>
              <a:rPr lang="en-US" sz="1200" dirty="0" err="1">
                <a:ea typeface="+mn-lt"/>
                <a:cs typeface="+mn-lt"/>
              </a:rPr>
              <a:t>Генерация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меню</a:t>
            </a:r>
            <a:endParaRPr lang="ru-RU" sz="1200" dirty="0" err="1">
              <a:ea typeface="+mn-lt"/>
              <a:cs typeface="+mn-lt"/>
            </a:endParaRPr>
          </a:p>
          <a:p>
            <a:pPr>
              <a:defRPr/>
            </a:pPr>
            <a:r>
              <a:rPr lang="en-US" sz="1200" dirty="0">
                <a:ea typeface="+mn-lt"/>
                <a:cs typeface="+mn-lt"/>
              </a:rPr>
              <a:t>- </a:t>
            </a:r>
            <a:r>
              <a:rPr lang="en-US" sz="1200" dirty="0" err="1">
                <a:ea typeface="+mn-lt"/>
                <a:cs typeface="+mn-lt"/>
              </a:rPr>
              <a:t>Случайный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выбор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блюд</a:t>
            </a:r>
            <a:r>
              <a:rPr lang="en-US" sz="1200" dirty="0">
                <a:ea typeface="+mn-lt"/>
                <a:cs typeface="+mn-lt"/>
              </a:rPr>
              <a:t>: </a:t>
            </a:r>
            <a:r>
              <a:rPr lang="en-US" sz="1200" dirty="0" err="1">
                <a:ea typeface="+mn-lt"/>
                <a:cs typeface="+mn-lt"/>
              </a:rPr>
              <a:t>завтрак</a:t>
            </a:r>
            <a:r>
              <a:rPr lang="en-US" sz="1200" dirty="0">
                <a:ea typeface="+mn-lt"/>
                <a:cs typeface="+mn-lt"/>
              </a:rPr>
              <a:t>, </a:t>
            </a:r>
            <a:r>
              <a:rPr lang="en-US" sz="1200" dirty="0" err="1">
                <a:ea typeface="+mn-lt"/>
                <a:cs typeface="+mn-lt"/>
              </a:rPr>
              <a:t>обед</a:t>
            </a:r>
            <a:r>
              <a:rPr lang="en-US" sz="1200" dirty="0">
                <a:ea typeface="+mn-lt"/>
                <a:cs typeface="+mn-lt"/>
              </a:rPr>
              <a:t>, </a:t>
            </a:r>
            <a:r>
              <a:rPr lang="en-US" sz="1200" dirty="0" err="1">
                <a:ea typeface="+mn-lt"/>
                <a:cs typeface="+mn-lt"/>
              </a:rPr>
              <a:t>ужин</a:t>
            </a:r>
            <a:r>
              <a:rPr lang="en-US" sz="1200" dirty="0">
                <a:ea typeface="+mn-lt"/>
                <a:cs typeface="+mn-lt"/>
              </a:rPr>
              <a:t>, </a:t>
            </a:r>
            <a:r>
              <a:rPr lang="en-US" sz="1200" dirty="0" err="1">
                <a:ea typeface="+mn-lt"/>
                <a:cs typeface="+mn-lt"/>
              </a:rPr>
              <a:t>перекус</a:t>
            </a:r>
            <a:endParaRPr lang="ru-RU" sz="1200" dirty="0" err="1">
              <a:ea typeface="+mn-lt"/>
              <a:cs typeface="+mn-lt"/>
            </a:endParaRPr>
          </a:p>
          <a:p>
            <a:pPr>
              <a:defRPr/>
            </a:pPr>
            <a:r>
              <a:rPr lang="en-US" sz="1200" dirty="0">
                <a:ea typeface="+mn-lt"/>
                <a:cs typeface="+mn-lt"/>
              </a:rPr>
              <a:t>- </a:t>
            </a:r>
            <a:r>
              <a:rPr lang="en-US" sz="1200" dirty="0" err="1">
                <a:ea typeface="+mn-lt"/>
                <a:cs typeface="+mn-lt"/>
              </a:rPr>
              <a:t>Отображение</a:t>
            </a:r>
            <a:r>
              <a:rPr lang="en-US" sz="1200" dirty="0">
                <a:ea typeface="+mn-lt"/>
                <a:cs typeface="+mn-lt"/>
              </a:rPr>
              <a:t> КБЖУ, </a:t>
            </a:r>
            <a:r>
              <a:rPr lang="en-US" sz="1200" dirty="0" err="1">
                <a:ea typeface="+mn-lt"/>
                <a:cs typeface="+mn-lt"/>
              </a:rPr>
              <a:t>ингредиентов</a:t>
            </a:r>
            <a:r>
              <a:rPr lang="en-US" sz="1200" dirty="0">
                <a:ea typeface="+mn-lt"/>
                <a:cs typeface="+mn-lt"/>
              </a:rPr>
              <a:t> и </a:t>
            </a:r>
            <a:r>
              <a:rPr lang="en-US" sz="1200" dirty="0" err="1">
                <a:ea typeface="+mn-lt"/>
                <a:cs typeface="+mn-lt"/>
              </a:rPr>
              <a:t>рецепта</a:t>
            </a:r>
            <a:endParaRPr sz="1200" dirty="0" err="1"/>
          </a:p>
          <a:p>
            <a:pPr>
              <a:defRPr/>
            </a:pPr>
            <a:r>
              <a:rPr lang="en-US" sz="1200" dirty="0">
                <a:ea typeface="+mn-lt"/>
                <a:cs typeface="+mn-lt"/>
              </a:rPr>
              <a:t>- Расчёт </a:t>
            </a:r>
            <a:r>
              <a:rPr lang="en-US" sz="1200" dirty="0" err="1">
                <a:ea typeface="+mn-lt"/>
                <a:cs typeface="+mn-lt"/>
              </a:rPr>
              <a:t>общей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калорийности</a:t>
            </a:r>
            <a:r>
              <a:rPr lang="en-US" sz="1200" dirty="0">
                <a:ea typeface="+mn-lt"/>
                <a:cs typeface="+mn-lt"/>
              </a:rPr>
              <a:t> и </a:t>
            </a:r>
            <a:r>
              <a:rPr lang="en-US" sz="1200" dirty="0" err="1">
                <a:ea typeface="+mn-lt"/>
                <a:cs typeface="+mn-lt"/>
              </a:rPr>
              <a:t>отклонения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от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нормы</a:t>
            </a:r>
            <a:endParaRPr sz="1200" dirty="0" err="1">
              <a:ea typeface="+mn-lt"/>
              <a:cs typeface="+mn-lt"/>
            </a:endParaRPr>
          </a:p>
          <a:p>
            <a:pPr>
              <a:defRPr/>
            </a:pPr>
            <a:r>
              <a:rPr lang="en-US" sz="1200" dirty="0">
                <a:ea typeface="+mn-lt"/>
                <a:cs typeface="+mn-lt"/>
              </a:rPr>
              <a:t>4. </a:t>
            </a:r>
            <a:r>
              <a:rPr lang="en-US" sz="1200" dirty="0" err="1">
                <a:ea typeface="+mn-lt"/>
                <a:cs typeface="+mn-lt"/>
              </a:rPr>
              <a:t>Валидация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данных</a:t>
            </a:r>
            <a:endParaRPr lang="ru-RU" sz="1200" dirty="0" err="1">
              <a:ea typeface="+mn-lt"/>
              <a:cs typeface="+mn-lt"/>
            </a:endParaRPr>
          </a:p>
          <a:p>
            <a:pPr>
              <a:defRPr/>
            </a:pPr>
            <a:r>
              <a:rPr lang="en-US" sz="1200" dirty="0">
                <a:ea typeface="+mn-lt"/>
                <a:cs typeface="+mn-lt"/>
              </a:rPr>
              <a:t>- </a:t>
            </a:r>
            <a:r>
              <a:rPr lang="en-US" sz="1200" dirty="0" err="1">
                <a:ea typeface="+mn-lt"/>
                <a:cs typeface="+mn-lt"/>
              </a:rPr>
              <a:t>Проверка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возраста</a:t>
            </a:r>
            <a:r>
              <a:rPr lang="en-US" sz="1200" dirty="0">
                <a:ea typeface="+mn-lt"/>
                <a:cs typeface="+mn-lt"/>
              </a:rPr>
              <a:t> (1-120), </a:t>
            </a:r>
            <a:r>
              <a:rPr lang="en-US" sz="1200" dirty="0" err="1">
                <a:ea typeface="+mn-lt"/>
                <a:cs typeface="+mn-lt"/>
              </a:rPr>
              <a:t>веса</a:t>
            </a:r>
            <a:r>
              <a:rPr lang="en-US" sz="1200" dirty="0">
                <a:ea typeface="+mn-lt"/>
                <a:cs typeface="+mn-lt"/>
              </a:rPr>
              <a:t> (20-250), </a:t>
            </a:r>
            <a:r>
              <a:rPr lang="en-US" sz="1200" dirty="0" err="1">
                <a:ea typeface="+mn-lt"/>
                <a:cs typeface="+mn-lt"/>
              </a:rPr>
              <a:t>роста</a:t>
            </a:r>
            <a:r>
              <a:rPr lang="en-US" sz="1200" dirty="0">
                <a:ea typeface="+mn-lt"/>
                <a:cs typeface="+mn-lt"/>
              </a:rPr>
              <a:t> (100-250)</a:t>
            </a:r>
            <a:endParaRPr lang="ru-RU" sz="1200" dirty="0">
              <a:ea typeface="+mn-lt"/>
              <a:cs typeface="+mn-lt"/>
            </a:endParaRPr>
          </a:p>
          <a:p>
            <a:pPr>
              <a:defRPr/>
            </a:pPr>
            <a:r>
              <a:rPr lang="en-US" sz="1200" dirty="0">
                <a:ea typeface="+mn-lt"/>
                <a:cs typeface="+mn-lt"/>
              </a:rPr>
              <a:t>- </a:t>
            </a:r>
            <a:r>
              <a:rPr lang="en-US" sz="1200" dirty="0" err="1">
                <a:ea typeface="+mn-lt"/>
                <a:cs typeface="+mn-lt"/>
              </a:rPr>
              <a:t>Сообщения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об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ошибках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при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некорректном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вводе</a:t>
            </a:r>
            <a:endParaRPr lang="ru-RU" sz="1200" dirty="0" err="1"/>
          </a:p>
          <a:p>
            <a:pPr>
              <a:defRPr/>
            </a:pPr>
            <a:r>
              <a:rPr lang="en-US" sz="1200">
                <a:ea typeface="+mn-lt"/>
                <a:cs typeface="+mn-lt"/>
              </a:rPr>
              <a:t>5. </a:t>
            </a:r>
            <a:r>
              <a:rPr lang="en-US" sz="1200" err="1">
                <a:ea typeface="+mn-lt"/>
                <a:cs typeface="+mn-lt"/>
              </a:rPr>
              <a:t>Адаптивный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err="1">
                <a:ea typeface="+mn-lt"/>
                <a:cs typeface="+mn-lt"/>
              </a:rPr>
              <a:t>интерфейс</a:t>
            </a:r>
            <a:endParaRPr sz="1200" err="1"/>
          </a:p>
          <a:p>
            <a:pPr>
              <a:defRPr/>
            </a:pPr>
            <a:r>
              <a:rPr lang="en-US" sz="1200" dirty="0">
                <a:ea typeface="+mn-lt"/>
                <a:cs typeface="+mn-lt"/>
              </a:rPr>
              <a:t>- </a:t>
            </a:r>
            <a:r>
              <a:rPr lang="en-US" sz="1200" dirty="0" err="1">
                <a:ea typeface="+mn-lt"/>
                <a:cs typeface="+mn-lt"/>
              </a:rPr>
              <a:t>Поддержка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экранов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от</a:t>
            </a:r>
            <a:r>
              <a:rPr lang="en-US" sz="1200" dirty="0">
                <a:ea typeface="+mn-lt"/>
                <a:cs typeface="+mn-lt"/>
              </a:rPr>
              <a:t> 320px (</a:t>
            </a:r>
            <a:r>
              <a:rPr lang="en-US" sz="1200" dirty="0" err="1">
                <a:ea typeface="+mn-lt"/>
                <a:cs typeface="+mn-lt"/>
              </a:rPr>
              <a:t>телефоны</a:t>
            </a:r>
            <a:r>
              <a:rPr lang="en-US" sz="1200" dirty="0">
                <a:ea typeface="+mn-lt"/>
                <a:cs typeface="+mn-lt"/>
              </a:rPr>
              <a:t>, </a:t>
            </a:r>
            <a:r>
              <a:rPr lang="en-US" sz="1200" dirty="0" err="1">
                <a:ea typeface="+mn-lt"/>
                <a:cs typeface="+mn-lt"/>
              </a:rPr>
              <a:t>планшеты</a:t>
            </a:r>
            <a:r>
              <a:rPr lang="en-US" sz="1200" dirty="0">
                <a:ea typeface="+mn-lt"/>
                <a:cs typeface="+mn-lt"/>
              </a:rPr>
              <a:t>, ПК)</a:t>
            </a:r>
            <a:endParaRPr sz="1200" dirty="0"/>
          </a:p>
          <a:p>
            <a:pPr>
              <a:defRPr/>
            </a:pPr>
            <a:r>
              <a:rPr lang="en-US" sz="1200" dirty="0">
                <a:ea typeface="+mn-lt"/>
                <a:cs typeface="+mn-lt"/>
              </a:rPr>
              <a:t>- </a:t>
            </a:r>
            <a:r>
              <a:rPr lang="en-US" sz="1200" dirty="0" err="1">
                <a:ea typeface="+mn-lt"/>
                <a:cs typeface="+mn-lt"/>
              </a:rPr>
              <a:t>Чёрно-белый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минималистичный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дизайн</a:t>
            </a:r>
            <a:endParaRPr sz="1200" dirty="0" err="1"/>
          </a:p>
        </p:txBody>
      </p:sp>
      <p:sp>
        <p:nvSpPr>
          <p:cNvPr id="1023789251" name="TextBox 1023789250"/>
          <p:cNvSpPr txBox="1"/>
          <p:nvPr/>
        </p:nvSpPr>
        <p:spPr bwMode="auto">
          <a:xfrm>
            <a:off x="134092" y="18200"/>
            <a:ext cx="509016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b="1"/>
              <a:t>ОСНОВНЫЕ ФУНКЦИИ</a:t>
            </a:r>
            <a:endParaRPr/>
          </a:p>
        </p:txBody>
      </p:sp>
      <p:sp>
        <p:nvSpPr>
          <p:cNvPr id="1631332918" name="Прямоугольник 1631332917"/>
          <p:cNvSpPr/>
          <p:nvPr/>
        </p:nvSpPr>
        <p:spPr bwMode="auto">
          <a:xfrm>
            <a:off x="10933136" y="-11830"/>
            <a:ext cx="1274044" cy="6881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356347212" name="Рисунок 135634721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3351" y="5757373"/>
            <a:ext cx="900904" cy="900904"/>
          </a:xfrm>
          <a:prstGeom prst="rect">
            <a:avLst/>
          </a:prstGeom>
        </p:spPr>
      </p:pic>
      <p:pic>
        <p:nvPicPr>
          <p:cNvPr id="1452040036" name="Рисунок 1452040035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160352" y="5885493"/>
            <a:ext cx="772784" cy="772784"/>
          </a:xfrm>
          <a:prstGeom prst="rect">
            <a:avLst/>
          </a:prstGeom>
        </p:spPr>
      </p:pic>
      <p:pic>
        <p:nvPicPr>
          <p:cNvPr id="1280833788" name="Рисунок 1280833787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4164204" y="2165875"/>
            <a:ext cx="609599" cy="609599"/>
          </a:xfrm>
          <a:prstGeom prst="rect">
            <a:avLst/>
          </a:prstGeom>
        </p:spPr>
      </p:pic>
      <p:pic>
        <p:nvPicPr>
          <p:cNvPr id="652769090" name="Рисунок 652769089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10164439" y="18200"/>
            <a:ext cx="768696" cy="7686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C428360-C75B-2C7C-67C6-EF8716649BE2}"/>
              </a:ext>
            </a:extLst>
          </p:cNvPr>
          <p:cNvSpPr txBox="1"/>
          <p:nvPr/>
        </p:nvSpPr>
        <p:spPr>
          <a:xfrm>
            <a:off x="5614392" y="2246847"/>
            <a:ext cx="4843346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Consolas"/>
              </a:rPr>
              <a:t> Визуальная схема
- Пользователь → Вводит данные → Расчёт КБЖУ
- Сохранение → localStorage
- Загрузка → из localStorage
- Меню → База рецептов → Генерация
- Обновление → Новые блюда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2863121" name="Объект 2"/>
          <p:cNvSpPr>
            <a:spLocks noGrp="1"/>
          </p:cNvSpPr>
          <p:nvPr>
            <p:ph idx="1"/>
          </p:nvPr>
        </p:nvSpPr>
        <p:spPr bwMode="auto">
          <a:xfrm>
            <a:off x="7584219" y="0"/>
            <a:ext cx="4586560" cy="68252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7500" lnSpcReduction="12000"/>
          </a:bodyPr>
          <a:lstStyle/>
          <a:p>
            <a:pPr marL="0" indent="0">
              <a:buNone/>
              <a:defRPr/>
            </a:pPr>
            <a:endParaRPr lang="ru-RU" sz="1800" b="1">
              <a:latin typeface="Calibri"/>
              <a:ea typeface="Calibri"/>
              <a:cs typeface="Calibri"/>
            </a:endParaRPr>
          </a:p>
        </p:txBody>
      </p:sp>
      <p:pic>
        <p:nvPicPr>
          <p:cNvPr id="1544910982" name="Рисунок 154491098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246364" y="4892937"/>
            <a:ext cx="1322578" cy="1322578"/>
          </a:xfrm>
          <a:prstGeom prst="rect">
            <a:avLst/>
          </a:prstGeom>
        </p:spPr>
      </p:pic>
      <p:sp>
        <p:nvSpPr>
          <p:cNvPr id="2113917633" name="TextBox 2113917632"/>
          <p:cNvSpPr txBox="1"/>
          <p:nvPr/>
        </p:nvSpPr>
        <p:spPr bwMode="auto">
          <a:xfrm>
            <a:off x="128025" y="0"/>
            <a:ext cx="719675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3600" b="1" i="0" u="none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Статистика и хранение данных</a:t>
            </a:r>
            <a:endParaRPr/>
          </a:p>
        </p:txBody>
      </p:sp>
      <p:sp>
        <p:nvSpPr>
          <p:cNvPr id="1488399124" name="TextBox 1488399123"/>
          <p:cNvSpPr txBox="1"/>
          <p:nvPr/>
        </p:nvSpPr>
        <p:spPr bwMode="auto">
          <a:xfrm>
            <a:off x="-2605" y="547512"/>
            <a:ext cx="6760330" cy="609461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100" dirty="0" err="1">
                <a:ea typeface="+mn-lt"/>
                <a:cs typeface="+mn-lt"/>
              </a:rPr>
              <a:t>Статистика</a:t>
            </a:r>
            <a:r>
              <a:rPr lang="en-US" sz="1100" dirty="0">
                <a:ea typeface="+mn-lt"/>
                <a:cs typeface="+mn-lt"/>
              </a:rPr>
              <a:t> и </a:t>
            </a:r>
            <a:r>
              <a:rPr lang="en-US" sz="1100" dirty="0" err="1">
                <a:ea typeface="+mn-lt"/>
                <a:cs typeface="+mn-lt"/>
              </a:rPr>
              <a:t>хранение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данных</a:t>
            </a:r>
            <a:endParaRPr lang="ru-RU" sz="1100" dirty="0" err="1"/>
          </a:p>
          <a:p>
            <a:pPr>
              <a:defRPr/>
            </a:pPr>
            <a:endParaRPr lang="en-US" sz="1100"/>
          </a:p>
          <a:p>
            <a:pPr>
              <a:defRPr/>
            </a:pPr>
            <a:r>
              <a:rPr lang="en-US" sz="1100" dirty="0" err="1">
                <a:ea typeface="+mn-lt"/>
                <a:cs typeface="+mn-lt"/>
              </a:rPr>
              <a:t>Результаты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расчёта</a:t>
            </a:r>
            <a:endParaRPr lang="en-US" sz="1100" dirty="0" err="1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- </a:t>
            </a:r>
            <a:r>
              <a:rPr lang="en-US" sz="1100" dirty="0" err="1">
                <a:ea typeface="+mn-lt"/>
                <a:cs typeface="+mn-lt"/>
              </a:rPr>
              <a:t>Суточная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норма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калорий</a:t>
            </a:r>
            <a:r>
              <a:rPr lang="en-US" sz="1100" dirty="0">
                <a:ea typeface="+mn-lt"/>
                <a:cs typeface="+mn-lt"/>
              </a:rPr>
              <a:t> (</a:t>
            </a:r>
            <a:r>
              <a:rPr lang="en-US" sz="1100" dirty="0" err="1">
                <a:ea typeface="+mn-lt"/>
                <a:cs typeface="+mn-lt"/>
              </a:rPr>
              <a:t>ккал</a:t>
            </a:r>
            <a:r>
              <a:rPr lang="en-US" sz="1100" dirty="0">
                <a:ea typeface="+mn-lt"/>
                <a:cs typeface="+mn-lt"/>
              </a:rPr>
              <a:t>)</a:t>
            </a:r>
            <a:endParaRPr lang="en-US" sz="1100" dirty="0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- </a:t>
            </a:r>
            <a:r>
              <a:rPr lang="en-US" sz="1100" dirty="0" err="1">
                <a:ea typeface="+mn-lt"/>
                <a:cs typeface="+mn-lt"/>
              </a:rPr>
              <a:t>Белки</a:t>
            </a:r>
            <a:r>
              <a:rPr lang="en-US" sz="1100" dirty="0">
                <a:ea typeface="+mn-lt"/>
                <a:cs typeface="+mn-lt"/>
              </a:rPr>
              <a:t> (</a:t>
            </a:r>
            <a:r>
              <a:rPr lang="en-US" sz="1100" dirty="0" err="1">
                <a:ea typeface="+mn-lt"/>
                <a:cs typeface="+mn-lt"/>
              </a:rPr>
              <a:t>граммы</a:t>
            </a:r>
            <a:r>
              <a:rPr lang="en-US" sz="1100" dirty="0">
                <a:ea typeface="+mn-lt"/>
                <a:cs typeface="+mn-lt"/>
              </a:rPr>
              <a:t>)</a:t>
            </a:r>
            <a:endParaRPr lang="en-US" sz="1100" dirty="0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- </a:t>
            </a:r>
            <a:r>
              <a:rPr lang="en-US" sz="1100" dirty="0" err="1">
                <a:ea typeface="+mn-lt"/>
                <a:cs typeface="+mn-lt"/>
              </a:rPr>
              <a:t>Жиры</a:t>
            </a:r>
            <a:r>
              <a:rPr lang="en-US" sz="1100" dirty="0">
                <a:ea typeface="+mn-lt"/>
                <a:cs typeface="+mn-lt"/>
              </a:rPr>
              <a:t> (</a:t>
            </a:r>
            <a:r>
              <a:rPr lang="en-US" sz="1100" dirty="0" err="1">
                <a:ea typeface="+mn-lt"/>
                <a:cs typeface="+mn-lt"/>
              </a:rPr>
              <a:t>граммы</a:t>
            </a:r>
            <a:r>
              <a:rPr lang="en-US" sz="1100" dirty="0">
                <a:ea typeface="+mn-lt"/>
                <a:cs typeface="+mn-lt"/>
              </a:rPr>
              <a:t>)</a:t>
            </a:r>
            <a:endParaRPr lang="en-US" sz="1100" dirty="0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- </a:t>
            </a:r>
            <a:r>
              <a:rPr lang="en-US" sz="1100" dirty="0" err="1">
                <a:ea typeface="+mn-lt"/>
                <a:cs typeface="+mn-lt"/>
              </a:rPr>
              <a:t>Углеводы</a:t>
            </a:r>
            <a:r>
              <a:rPr lang="en-US" sz="1100" dirty="0">
                <a:ea typeface="+mn-lt"/>
                <a:cs typeface="+mn-lt"/>
              </a:rPr>
              <a:t> (</a:t>
            </a:r>
            <a:r>
              <a:rPr lang="en-US" sz="1100" dirty="0" err="1">
                <a:ea typeface="+mn-lt"/>
                <a:cs typeface="+mn-lt"/>
              </a:rPr>
              <a:t>граммы</a:t>
            </a:r>
            <a:r>
              <a:rPr lang="en-US" sz="1100" dirty="0">
                <a:ea typeface="+mn-lt"/>
                <a:cs typeface="+mn-lt"/>
              </a:rPr>
              <a:t>)</a:t>
            </a:r>
            <a:endParaRPr lang="en-US" sz="1100" dirty="0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- </a:t>
            </a:r>
            <a:r>
              <a:rPr lang="en-US" sz="1100" dirty="0" err="1">
                <a:ea typeface="+mn-lt"/>
                <a:cs typeface="+mn-lt"/>
              </a:rPr>
              <a:t>Базовый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обмен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веществ</a:t>
            </a:r>
            <a:r>
              <a:rPr lang="en-US" sz="1100" dirty="0">
                <a:ea typeface="+mn-lt"/>
                <a:cs typeface="+mn-lt"/>
              </a:rPr>
              <a:t> (BMR)</a:t>
            </a:r>
            <a:endParaRPr lang="en-US" sz="1100" dirty="0"/>
          </a:p>
          <a:p>
            <a:pPr>
              <a:defRPr/>
            </a:pPr>
            <a:r>
              <a:rPr lang="en-US" sz="1100" dirty="0" err="1">
                <a:ea typeface="+mn-lt"/>
                <a:cs typeface="+mn-lt"/>
              </a:rPr>
              <a:t>Генерация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меню</a:t>
            </a:r>
            <a:endParaRPr lang="en-US" sz="1100" dirty="0" err="1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- </a:t>
            </a:r>
            <a:r>
              <a:rPr lang="en-US" sz="1100" dirty="0" err="1">
                <a:ea typeface="+mn-lt"/>
                <a:cs typeface="+mn-lt"/>
              </a:rPr>
              <a:t>Итоговая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калорийность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всех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блюд</a:t>
            </a:r>
            <a:endParaRPr lang="en-US" sz="1100" dirty="0" err="1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- </a:t>
            </a:r>
            <a:r>
              <a:rPr lang="en-US" sz="1100" dirty="0" err="1">
                <a:ea typeface="+mn-lt"/>
                <a:cs typeface="+mn-lt"/>
              </a:rPr>
              <a:t>Отклонение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от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нормы</a:t>
            </a:r>
            <a:r>
              <a:rPr lang="en-US" sz="1100" dirty="0">
                <a:ea typeface="+mn-lt"/>
                <a:cs typeface="+mn-lt"/>
              </a:rPr>
              <a:t> (в </a:t>
            </a:r>
            <a:r>
              <a:rPr lang="en-US" sz="1100" dirty="0" err="1">
                <a:ea typeface="+mn-lt"/>
                <a:cs typeface="+mn-lt"/>
              </a:rPr>
              <a:t>процентах</a:t>
            </a:r>
            <a:r>
              <a:rPr lang="en-US" sz="1100" dirty="0">
                <a:ea typeface="+mn-lt"/>
                <a:cs typeface="+mn-lt"/>
              </a:rPr>
              <a:t>)</a:t>
            </a:r>
            <a:endParaRPr lang="en-US" sz="1100" dirty="0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- </a:t>
            </a:r>
            <a:r>
              <a:rPr lang="en-US" sz="1100" dirty="0" err="1">
                <a:ea typeface="+mn-lt"/>
                <a:cs typeface="+mn-lt"/>
              </a:rPr>
              <a:t>Рекомендация</a:t>
            </a:r>
            <a:r>
              <a:rPr lang="en-US" sz="1100" b="0" i="0" u="none" dirty="0">
                <a:ea typeface="+mn-lt"/>
                <a:cs typeface="+mn-lt"/>
              </a:rPr>
              <a:t>:</a:t>
            </a:r>
            <a:r>
              <a:rPr lang="en-US" sz="1100" dirty="0">
                <a:ea typeface="+mn-lt"/>
                <a:cs typeface="+mn-lt"/>
              </a:rPr>
              <a:t> "</a:t>
            </a:r>
            <a:r>
              <a:rPr lang="en-US" sz="1100" dirty="0" err="1">
                <a:ea typeface="+mn-lt"/>
                <a:cs typeface="+mn-lt"/>
              </a:rPr>
              <a:t>Отличное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меню</a:t>
            </a:r>
            <a:r>
              <a:rPr lang="en-US" sz="1100" dirty="0">
                <a:ea typeface="+mn-lt"/>
                <a:cs typeface="+mn-lt"/>
              </a:rPr>
              <a:t>!" </a:t>
            </a:r>
            <a:r>
              <a:rPr lang="en-US" sz="1100" dirty="0" err="1">
                <a:ea typeface="+mn-lt"/>
                <a:cs typeface="+mn-lt"/>
              </a:rPr>
              <a:t>или</a:t>
            </a:r>
            <a:r>
              <a:rPr lang="en-US" sz="1100" dirty="0">
                <a:ea typeface="+mn-lt"/>
                <a:cs typeface="+mn-lt"/>
              </a:rPr>
              <a:t> "</a:t>
            </a:r>
            <a:r>
              <a:rPr lang="en-US" sz="1100" dirty="0" err="1">
                <a:ea typeface="+mn-lt"/>
                <a:cs typeface="+mn-lt"/>
              </a:rPr>
              <a:t>Скорректируйте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порции</a:t>
            </a:r>
            <a:r>
              <a:rPr lang="en-US" sz="1100" dirty="0">
                <a:ea typeface="+mn-lt"/>
                <a:cs typeface="+mn-lt"/>
              </a:rPr>
              <a:t>"</a:t>
            </a:r>
            <a:endParaRPr lang="ru-RU" sz="1100" dirty="0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Где </a:t>
            </a:r>
            <a:r>
              <a:rPr lang="en-US" sz="1100" dirty="0" err="1">
                <a:ea typeface="+mn-lt"/>
                <a:cs typeface="+mn-lt"/>
              </a:rPr>
              <a:t>хранятся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данные</a:t>
            </a:r>
            <a:r>
              <a:rPr lang="en-US" sz="1100" dirty="0">
                <a:ea typeface="+mn-lt"/>
                <a:cs typeface="+mn-lt"/>
              </a:rPr>
              <a:t>?</a:t>
            </a:r>
            <a:endParaRPr lang="ru-RU" sz="1100" dirty="0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Все </a:t>
            </a:r>
            <a:r>
              <a:rPr lang="en-US" sz="1100" dirty="0" err="1">
                <a:ea typeface="+mn-lt"/>
                <a:cs typeface="+mn-lt"/>
              </a:rPr>
              <a:t>данные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сохраняются</a:t>
            </a:r>
            <a:r>
              <a:rPr lang="en-US" sz="1100" dirty="0">
                <a:ea typeface="+mn-lt"/>
                <a:cs typeface="+mn-lt"/>
              </a:rPr>
              <a:t> в </a:t>
            </a:r>
            <a:r>
              <a:rPr lang="en-US" sz="1100" dirty="0" err="1">
                <a:ea typeface="+mn-lt"/>
                <a:cs typeface="+mn-lt"/>
              </a:rPr>
              <a:t>localStorage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браузера</a:t>
            </a:r>
            <a:endParaRPr lang="ru-RU" sz="1100" dirty="0" err="1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Как </a:t>
            </a:r>
            <a:r>
              <a:rPr lang="en-US" sz="1100" err="1">
                <a:ea typeface="+mn-lt"/>
                <a:cs typeface="+mn-lt"/>
              </a:rPr>
              <a:t>это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>
                <a:ea typeface="+mn-lt"/>
                <a:cs typeface="+mn-lt"/>
              </a:rPr>
              <a:t>работает?</a:t>
            </a:r>
            <a:endParaRPr sz="1100" dirty="0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Профиль </a:t>
            </a:r>
            <a:r>
              <a:rPr lang="en-US" sz="1100" dirty="0" err="1">
                <a:ea typeface="+mn-lt"/>
                <a:cs typeface="+mn-lt"/>
              </a:rPr>
              <a:t>пользователя</a:t>
            </a:r>
            <a:r>
              <a:rPr lang="en-US" sz="1100" dirty="0">
                <a:ea typeface="+mn-lt"/>
                <a:cs typeface="+mn-lt"/>
              </a:rPr>
              <a:t> и </a:t>
            </a:r>
            <a:r>
              <a:rPr lang="en-US" sz="1100" dirty="0" err="1">
                <a:ea typeface="+mn-lt"/>
                <a:cs typeface="+mn-lt"/>
              </a:rPr>
              <a:t>результаты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расчёта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превращаются</a:t>
            </a:r>
            <a:r>
              <a:rPr lang="en-US" sz="1100" dirty="0">
                <a:ea typeface="+mn-lt"/>
                <a:cs typeface="+mn-lt"/>
              </a:rPr>
              <a:t> в JSON-</a:t>
            </a:r>
            <a:r>
              <a:rPr lang="en-US" sz="1100" dirty="0" err="1">
                <a:ea typeface="+mn-lt"/>
                <a:cs typeface="+mn-lt"/>
              </a:rPr>
              <a:t>строку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b="0" i="0" u="none" dirty="0">
                <a:ea typeface="+mn-lt"/>
                <a:cs typeface="+mn-lt"/>
              </a:rPr>
              <a:t>с </a:t>
            </a:r>
            <a:r>
              <a:rPr lang="en-US" sz="1100" dirty="0" err="1">
                <a:ea typeface="+mn-lt"/>
                <a:cs typeface="+mn-lt"/>
              </a:rPr>
              <a:t>помощью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JSON.stringify</a:t>
            </a:r>
            <a:r>
              <a:rPr lang="en-US" sz="1100" dirty="0">
                <a:ea typeface="+mn-lt"/>
                <a:cs typeface="+mn-lt"/>
              </a:rPr>
              <a:t>() и </a:t>
            </a:r>
            <a:r>
              <a:rPr lang="en-US" sz="1100" dirty="0" err="1">
                <a:ea typeface="+mn-lt"/>
                <a:cs typeface="+mn-lt"/>
              </a:rPr>
              <a:t>сохраняются</a:t>
            </a:r>
            <a:r>
              <a:rPr lang="en-US" sz="1100" dirty="0">
                <a:ea typeface="+mn-lt"/>
                <a:cs typeface="+mn-lt"/>
              </a:rPr>
              <a:t> в </a:t>
            </a:r>
            <a:r>
              <a:rPr lang="en-US" sz="1100" dirty="0" err="1">
                <a:ea typeface="+mn-lt"/>
                <a:cs typeface="+mn-lt"/>
              </a:rPr>
              <a:t>localStorage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по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ключу</a:t>
            </a:r>
            <a:r>
              <a:rPr lang="en-US" sz="1100" dirty="0">
                <a:ea typeface="+mn-lt"/>
                <a:cs typeface="+mn-lt"/>
              </a:rPr>
              <a:t> "</a:t>
            </a:r>
            <a:r>
              <a:rPr lang="en-US" sz="1100" dirty="0" err="1">
                <a:ea typeface="+mn-lt"/>
                <a:cs typeface="+mn-lt"/>
              </a:rPr>
              <a:t>dietProfile</a:t>
            </a:r>
            <a:r>
              <a:rPr lang="en-US" sz="1100" dirty="0">
                <a:ea typeface="+mn-lt"/>
                <a:cs typeface="+mn-lt"/>
              </a:rPr>
              <a:t>". При </a:t>
            </a:r>
            <a:r>
              <a:rPr lang="en-US" sz="1100" dirty="0" err="1">
                <a:ea typeface="+mn-lt"/>
                <a:cs typeface="+mn-lt"/>
              </a:rPr>
              <a:t>загрузке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приложения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данные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читаются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b="0" i="0" u="none" dirty="0">
                <a:ea typeface="+mn-lt"/>
                <a:cs typeface="+mn-lt"/>
              </a:rPr>
              <a:t>с </a:t>
            </a:r>
            <a:r>
              <a:rPr lang="en-US" sz="1100" dirty="0" err="1">
                <a:ea typeface="+mn-lt"/>
                <a:cs typeface="+mn-lt"/>
              </a:rPr>
              <a:t>помощью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JSON.parse</a:t>
            </a:r>
            <a:r>
              <a:rPr lang="en-US" sz="1100" dirty="0">
                <a:ea typeface="+mn-lt"/>
                <a:cs typeface="+mn-lt"/>
              </a:rPr>
              <a:t>().</a:t>
            </a:r>
            <a:endParaRPr lang="ru-RU" sz="1100" dirty="0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Плюсы </a:t>
            </a:r>
            <a:r>
              <a:rPr lang="en-US" sz="1100" dirty="0" err="1">
                <a:ea typeface="+mn-lt"/>
                <a:cs typeface="+mn-lt"/>
              </a:rPr>
              <a:t>такого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хранения</a:t>
            </a:r>
            <a:r>
              <a:rPr lang="en-US" sz="1100" dirty="0">
                <a:ea typeface="+mn-lt"/>
                <a:cs typeface="+mn-lt"/>
              </a:rPr>
              <a:t>:</a:t>
            </a:r>
            <a:endParaRPr lang="ru-RU" sz="1100" dirty="0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- </a:t>
            </a:r>
            <a:r>
              <a:rPr lang="en-US" sz="1100" dirty="0" err="1">
                <a:ea typeface="+mn-lt"/>
                <a:cs typeface="+mn-lt"/>
              </a:rPr>
              <a:t>Данные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не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теряются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после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закрытия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браузера</a:t>
            </a:r>
            <a:endParaRPr lang="ru-RU" sz="1100" dirty="0" err="1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- </a:t>
            </a:r>
            <a:r>
              <a:rPr lang="en-US" sz="1100" dirty="0" err="1">
                <a:ea typeface="+mn-lt"/>
                <a:cs typeface="+mn-lt"/>
              </a:rPr>
              <a:t>Приложение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работает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без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интернета</a:t>
            </a:r>
            <a:endParaRPr lang="ru-RU" sz="1100" dirty="0" err="1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- </a:t>
            </a:r>
            <a:r>
              <a:rPr lang="en-US" sz="1100" dirty="0" err="1">
                <a:ea typeface="+mn-lt"/>
                <a:cs typeface="+mn-lt"/>
              </a:rPr>
              <a:t>Никакие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данные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не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уходят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на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сервер</a:t>
            </a:r>
            <a:endParaRPr sz="1100" dirty="0" err="1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- </a:t>
            </a:r>
            <a:r>
              <a:rPr lang="en-US" sz="1100" dirty="0" err="1">
                <a:ea typeface="+mn-lt"/>
                <a:cs typeface="+mn-lt"/>
              </a:rPr>
              <a:t>Не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нужна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регистрация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b="0" i="0" u="none" dirty="0">
                <a:ea typeface="+mn-lt"/>
                <a:cs typeface="+mn-lt"/>
              </a:rPr>
              <a:t>и </a:t>
            </a:r>
            <a:r>
              <a:rPr lang="en-US" sz="1100" dirty="0" err="1">
                <a:ea typeface="+mn-lt"/>
                <a:cs typeface="+mn-lt"/>
              </a:rPr>
              <a:t>вход</a:t>
            </a:r>
            <a:r>
              <a:rPr lang="en-US" sz="1100" dirty="0">
                <a:ea typeface="+mn-lt"/>
                <a:cs typeface="+mn-lt"/>
              </a:rPr>
              <a:t> в </a:t>
            </a:r>
            <a:r>
              <a:rPr lang="en-US" sz="1100" dirty="0" err="1">
                <a:ea typeface="+mn-lt"/>
                <a:cs typeface="+mn-lt"/>
              </a:rPr>
              <a:t>аккаунт</a:t>
            </a:r>
            <a:endParaRPr lang="ru-RU" sz="1100" dirty="0" err="1"/>
          </a:p>
          <a:p>
            <a:pPr>
              <a:defRPr/>
            </a:pPr>
            <a:r>
              <a:rPr lang="en-US" sz="1100" dirty="0" err="1">
                <a:ea typeface="+mn-lt"/>
                <a:cs typeface="+mn-lt"/>
              </a:rPr>
              <a:t>Минусы</a:t>
            </a:r>
            <a:r>
              <a:rPr lang="en-US" sz="1100" dirty="0">
                <a:ea typeface="+mn-lt"/>
                <a:cs typeface="+mn-lt"/>
              </a:rPr>
              <a:t>:</a:t>
            </a:r>
            <a:endParaRPr sz="1100" dirty="0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- </a:t>
            </a:r>
            <a:r>
              <a:rPr lang="en-US" sz="1100" dirty="0" err="1">
                <a:ea typeface="+mn-lt"/>
                <a:cs typeface="+mn-lt"/>
              </a:rPr>
              <a:t>Данные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привязаны</a:t>
            </a:r>
            <a:r>
              <a:rPr lang="en-US" sz="1100" dirty="0">
                <a:ea typeface="+mn-lt"/>
                <a:cs typeface="+mn-lt"/>
              </a:rPr>
              <a:t> к </a:t>
            </a:r>
            <a:r>
              <a:rPr lang="en-US" sz="1100" dirty="0" err="1">
                <a:ea typeface="+mn-lt"/>
                <a:cs typeface="+mn-lt"/>
              </a:rPr>
              <a:t>конкретному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браузеру</a:t>
            </a:r>
            <a:r>
              <a:rPr lang="en-US" sz="1100" dirty="0">
                <a:ea typeface="+mn-lt"/>
                <a:cs typeface="+mn-lt"/>
              </a:rPr>
              <a:t> и </a:t>
            </a:r>
            <a:r>
              <a:rPr lang="en-US" sz="1100" dirty="0" err="1">
                <a:ea typeface="+mn-lt"/>
                <a:cs typeface="+mn-lt"/>
              </a:rPr>
              <a:t>устройству</a:t>
            </a:r>
            <a:endParaRPr sz="1100" dirty="0" err="1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- </a:t>
            </a:r>
            <a:r>
              <a:rPr lang="en-US" sz="1100" b="0" i="0" u="none" dirty="0">
                <a:ea typeface="+mn-lt"/>
                <a:cs typeface="+mn-lt"/>
              </a:rPr>
              <a:t>Если </a:t>
            </a:r>
            <a:r>
              <a:rPr lang="en-US" sz="1100" dirty="0" err="1">
                <a:ea typeface="+mn-lt"/>
                <a:cs typeface="+mn-lt"/>
              </a:rPr>
              <a:t>очистить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историю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браузера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b="0" i="0" u="none" dirty="0">
                <a:ea typeface="+mn-lt"/>
                <a:cs typeface="+mn-lt"/>
              </a:rPr>
              <a:t>— </a:t>
            </a:r>
            <a:r>
              <a:rPr lang="en-US" sz="1100" dirty="0" err="1">
                <a:ea typeface="+mn-lt"/>
                <a:cs typeface="+mn-lt"/>
              </a:rPr>
              <a:t>данные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удалятся</a:t>
            </a:r>
            <a:endParaRPr lang="ru-RU" sz="1100" dirty="0" err="1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- </a:t>
            </a:r>
            <a:r>
              <a:rPr lang="en-US" sz="1100" dirty="0" err="1">
                <a:ea typeface="+mn-lt"/>
                <a:cs typeface="+mn-lt"/>
              </a:rPr>
              <a:t>Объём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ограничен</a:t>
            </a:r>
            <a:r>
              <a:rPr lang="en-US" sz="1100" dirty="0">
                <a:ea typeface="+mn-lt"/>
                <a:cs typeface="+mn-lt"/>
              </a:rPr>
              <a:t> (5-10 МБ)</a:t>
            </a:r>
            <a:endParaRPr lang="ru-RU" sz="1100" dirty="0"/>
          </a:p>
          <a:p>
            <a:pPr>
              <a:defRPr/>
            </a:pPr>
            <a:r>
              <a:rPr lang="en-US" sz="1100" dirty="0" err="1">
                <a:ea typeface="+mn-lt"/>
                <a:cs typeface="+mn-lt"/>
              </a:rPr>
              <a:t>Что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сохраняется</a:t>
            </a:r>
            <a:r>
              <a:rPr lang="en-US" sz="1100" dirty="0">
                <a:ea typeface="+mn-lt"/>
                <a:cs typeface="+mn-lt"/>
              </a:rPr>
              <a:t>:</a:t>
            </a:r>
            <a:endParaRPr sz="1100" dirty="0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- </a:t>
            </a:r>
            <a:r>
              <a:rPr lang="en-US" sz="1100" dirty="0" err="1">
                <a:ea typeface="+mn-lt"/>
                <a:cs typeface="+mn-lt"/>
              </a:rPr>
              <a:t>Возраст</a:t>
            </a:r>
            <a:r>
              <a:rPr lang="en-US" sz="1100" dirty="0">
                <a:ea typeface="+mn-lt"/>
                <a:cs typeface="+mn-lt"/>
              </a:rPr>
              <a:t>, </a:t>
            </a:r>
            <a:r>
              <a:rPr lang="en-US" sz="1100" dirty="0" err="1">
                <a:ea typeface="+mn-lt"/>
                <a:cs typeface="+mn-lt"/>
              </a:rPr>
              <a:t>вес</a:t>
            </a:r>
            <a:r>
              <a:rPr lang="en-US" sz="1100" dirty="0">
                <a:ea typeface="+mn-lt"/>
                <a:cs typeface="+mn-lt"/>
              </a:rPr>
              <a:t>, </a:t>
            </a:r>
            <a:r>
              <a:rPr lang="en-US" sz="1100" dirty="0" err="1">
                <a:ea typeface="+mn-lt"/>
                <a:cs typeface="+mn-lt"/>
              </a:rPr>
              <a:t>рост</a:t>
            </a:r>
            <a:r>
              <a:rPr lang="en-US" sz="1100" b="0" i="0" u="none" dirty="0">
                <a:ea typeface="+mn-lt"/>
                <a:cs typeface="+mn-lt"/>
              </a:rPr>
              <a:t>, </a:t>
            </a:r>
            <a:r>
              <a:rPr lang="en-US" sz="1100" dirty="0" err="1">
                <a:ea typeface="+mn-lt"/>
                <a:cs typeface="+mn-lt"/>
              </a:rPr>
              <a:t>пол</a:t>
            </a:r>
            <a:endParaRPr lang="ru-RU" sz="1100" dirty="0" err="1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- </a:t>
            </a:r>
            <a:r>
              <a:rPr lang="en-US" sz="1100" dirty="0" err="1">
                <a:ea typeface="+mn-lt"/>
                <a:cs typeface="+mn-lt"/>
              </a:rPr>
              <a:t>Цель</a:t>
            </a:r>
            <a:r>
              <a:rPr lang="en-US" sz="1100" dirty="0">
                <a:ea typeface="+mn-lt"/>
                <a:cs typeface="+mn-lt"/>
              </a:rPr>
              <a:t> и </a:t>
            </a:r>
            <a:r>
              <a:rPr lang="en-US" sz="1100" dirty="0" err="1">
                <a:ea typeface="+mn-lt"/>
                <a:cs typeface="+mn-lt"/>
              </a:rPr>
              <a:t>уровень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активности</a:t>
            </a:r>
            <a:endParaRPr lang="ru-RU" sz="1100" dirty="0" err="1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- </a:t>
            </a:r>
            <a:r>
              <a:rPr lang="en-US" sz="1100" dirty="0" err="1">
                <a:ea typeface="+mn-lt"/>
                <a:cs typeface="+mn-lt"/>
              </a:rPr>
              <a:t>Результаты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расчёта</a:t>
            </a:r>
            <a:r>
              <a:rPr lang="en-US" sz="1100" dirty="0">
                <a:ea typeface="+mn-lt"/>
                <a:cs typeface="+mn-lt"/>
              </a:rPr>
              <a:t> КБЖУ</a:t>
            </a:r>
            <a:endParaRPr sz="1100" dirty="0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- </a:t>
            </a:r>
            <a:r>
              <a:rPr lang="en-US" sz="1100" dirty="0" err="1">
                <a:ea typeface="+mn-lt"/>
                <a:cs typeface="+mn-lt"/>
              </a:rPr>
              <a:t>Дата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b="0" i="0" u="none" dirty="0">
                <a:ea typeface="+mn-lt"/>
                <a:cs typeface="+mn-lt"/>
              </a:rPr>
              <a:t>и </a:t>
            </a:r>
            <a:r>
              <a:rPr lang="en-US" sz="1100" dirty="0" err="1">
                <a:ea typeface="+mn-lt"/>
                <a:cs typeface="+mn-lt"/>
              </a:rPr>
              <a:t>время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сохранения</a:t>
            </a:r>
            <a:endParaRPr lang="ru-RU" sz="1100" dirty="0" err="1"/>
          </a:p>
          <a:p>
            <a:pPr>
              <a:defRPr/>
            </a:pPr>
            <a:r>
              <a:rPr lang="en-US" sz="1100" dirty="0" err="1">
                <a:ea typeface="+mn-lt"/>
                <a:cs typeface="+mn-lt"/>
              </a:rPr>
              <a:t>Что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генерируется</a:t>
            </a:r>
            <a:r>
              <a:rPr lang="en-US" sz="1100" dirty="0">
                <a:ea typeface="+mn-lt"/>
                <a:cs typeface="+mn-lt"/>
              </a:rPr>
              <a:t>:</a:t>
            </a:r>
            <a:endParaRPr lang="ru-RU" sz="1100" dirty="0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- </a:t>
            </a:r>
            <a:r>
              <a:rPr lang="en-US" sz="1100" dirty="0" err="1">
                <a:ea typeface="+mn-lt"/>
                <a:cs typeface="+mn-lt"/>
              </a:rPr>
              <a:t>Меню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на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день</a:t>
            </a:r>
            <a:r>
              <a:rPr lang="en-US" sz="1100" dirty="0">
                <a:ea typeface="+mn-lt"/>
                <a:cs typeface="+mn-lt"/>
              </a:rPr>
              <a:t> (</a:t>
            </a:r>
            <a:r>
              <a:rPr lang="en-US" sz="1100" dirty="0" err="1">
                <a:ea typeface="+mn-lt"/>
                <a:cs typeface="+mn-lt"/>
              </a:rPr>
              <a:t>завтрак</a:t>
            </a:r>
            <a:r>
              <a:rPr lang="en-US" sz="1100" dirty="0">
                <a:ea typeface="+mn-lt"/>
                <a:cs typeface="+mn-lt"/>
              </a:rPr>
              <a:t>, </a:t>
            </a:r>
            <a:r>
              <a:rPr lang="en-US" sz="1100" dirty="0" err="1">
                <a:ea typeface="+mn-lt"/>
                <a:cs typeface="+mn-lt"/>
              </a:rPr>
              <a:t>обед</a:t>
            </a:r>
            <a:r>
              <a:rPr lang="en-US" sz="1100" dirty="0">
                <a:ea typeface="+mn-lt"/>
                <a:cs typeface="+mn-lt"/>
              </a:rPr>
              <a:t>, </a:t>
            </a:r>
            <a:r>
              <a:rPr lang="en-US" sz="1100" dirty="0" err="1">
                <a:ea typeface="+mn-lt"/>
                <a:cs typeface="+mn-lt"/>
              </a:rPr>
              <a:t>ужин</a:t>
            </a:r>
            <a:r>
              <a:rPr lang="en-US" sz="1100" dirty="0">
                <a:ea typeface="+mn-lt"/>
                <a:cs typeface="+mn-lt"/>
              </a:rPr>
              <a:t>, </a:t>
            </a:r>
            <a:r>
              <a:rPr lang="en-US" sz="1100" dirty="0" err="1">
                <a:ea typeface="+mn-lt"/>
                <a:cs typeface="+mn-lt"/>
              </a:rPr>
              <a:t>перекус</a:t>
            </a:r>
            <a:r>
              <a:rPr lang="en-US" sz="1100" dirty="0">
                <a:ea typeface="+mn-lt"/>
                <a:cs typeface="+mn-lt"/>
              </a:rPr>
              <a:t>)</a:t>
            </a:r>
            <a:endParaRPr lang="ru-RU" sz="1100" dirty="0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- КБЖУ </a:t>
            </a:r>
            <a:r>
              <a:rPr lang="en-US" sz="1100" dirty="0" err="1">
                <a:ea typeface="+mn-lt"/>
                <a:cs typeface="+mn-lt"/>
              </a:rPr>
              <a:t>каждого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блюда</a:t>
            </a:r>
            <a:endParaRPr lang="ru-RU" sz="1100" dirty="0" err="1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- </a:t>
            </a:r>
            <a:r>
              <a:rPr lang="en-US" sz="1100" dirty="0" err="1">
                <a:ea typeface="+mn-lt"/>
                <a:cs typeface="+mn-lt"/>
              </a:rPr>
              <a:t>Итоговая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калорийность</a:t>
            </a:r>
            <a:endParaRPr sz="1100" dirty="0" err="1"/>
          </a:p>
          <a:p>
            <a:pPr>
              <a:defRPr/>
            </a:pPr>
            <a:r>
              <a:rPr lang="en-US" sz="1100" dirty="0">
                <a:ea typeface="+mn-lt"/>
                <a:cs typeface="+mn-lt"/>
              </a:rPr>
              <a:t>- </a:t>
            </a:r>
            <a:r>
              <a:rPr lang="en-US" sz="1100" dirty="0" err="1">
                <a:ea typeface="+mn-lt"/>
                <a:cs typeface="+mn-lt"/>
              </a:rPr>
              <a:t>Отклонение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от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нормы</a:t>
            </a:r>
            <a:endParaRPr sz="1100" dirty="0" err="1"/>
          </a:p>
        </p:txBody>
      </p:sp>
      <p:sp>
        <p:nvSpPr>
          <p:cNvPr id="2082405176" name="TextBox 2082405175"/>
          <p:cNvSpPr txBox="1"/>
          <p:nvPr/>
        </p:nvSpPr>
        <p:spPr bwMode="auto">
          <a:xfrm>
            <a:off x="1086592" y="2038471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1164503993" name="Прямоугольник 1164503992"/>
          <p:cNvSpPr/>
          <p:nvPr/>
        </p:nvSpPr>
        <p:spPr bwMode="auto">
          <a:xfrm>
            <a:off x="11684394" y="4440"/>
            <a:ext cx="594554" cy="6867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17197286" name="Рисунок 201719728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582024" y="5265079"/>
            <a:ext cx="1473482" cy="1473482"/>
          </a:xfrm>
          <a:prstGeom prst="rect">
            <a:avLst/>
          </a:prstGeom>
        </p:spPr>
      </p:pic>
      <p:sp>
        <p:nvSpPr>
          <p:cNvPr id="1822951242" name="TextBox 1822951241"/>
          <p:cNvSpPr txBox="1"/>
          <p:nvPr/>
        </p:nvSpPr>
        <p:spPr bwMode="auto">
          <a:xfrm>
            <a:off x="6221504" y="6066"/>
            <a:ext cx="5980330" cy="609256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400" b="0" i="0" u="none" strike="noStrike" cap="none" spc="0">
                <a:latin typeface="Arial"/>
                <a:ea typeface="Calibri"/>
                <a:cs typeface="Arial"/>
              </a:rPr>
              <a:t>ЗАПУСК</a:t>
            </a:r>
            <a:endParaRPr lang="en-US" sz="1400" b="0" i="0" u="none" strike="noStrike" cap="none" spc="0">
              <a:latin typeface="Arial"/>
              <a:cs typeface="Arial"/>
            </a:endParaRPr>
          </a:p>
          <a:p>
            <a:pPr>
              <a:defRPr/>
            </a:pPr>
            <a:r>
              <a:rPr lang="en-US" sz="1400">
                <a:latin typeface="Arial"/>
                <a:ea typeface="Calibri"/>
                <a:cs typeface="Arial"/>
              </a:rPr>
              <a:t>↓</a:t>
            </a:r>
            <a:endParaRPr lang="ru-RU" sz="1400" b="0" i="0" u="none" strike="noStrike" cap="none" spc="0">
              <a:latin typeface="Arial"/>
              <a:cs typeface="Arial"/>
            </a:endParaRPr>
          </a:p>
          <a:p>
            <a:pPr>
              <a:defRPr/>
            </a:pPr>
            <a:r>
              <a:rPr lang="en-US" sz="1400" b="0" i="0" u="none" strike="noStrike" cap="none" spc="0">
                <a:latin typeface="Arial"/>
                <a:ea typeface="Calibri"/>
                <a:cs typeface="Arial"/>
              </a:rPr>
              <a:t>Загрузка </a:t>
            </a:r>
            <a:r>
              <a:rPr lang="en-US" sz="1400" err="1">
                <a:latin typeface="Arial"/>
                <a:ea typeface="Calibri"/>
                <a:cs typeface="Arial"/>
              </a:rPr>
              <a:t>профиля</a:t>
            </a:r>
            <a:r>
              <a:rPr lang="en-US" sz="1400">
                <a:latin typeface="Arial"/>
                <a:ea typeface="Calibri"/>
                <a:cs typeface="Arial"/>
              </a:rPr>
              <a:t> </a:t>
            </a:r>
            <a:r>
              <a:rPr lang="en-US" sz="1400" b="0" i="0" u="none" strike="noStrike" cap="none" spc="0" err="1">
                <a:latin typeface="Arial"/>
                <a:ea typeface="Calibri"/>
                <a:cs typeface="Arial"/>
              </a:rPr>
              <a:t>из</a:t>
            </a:r>
            <a:r>
              <a:rPr lang="en-US" sz="1400" b="0" i="0" u="none" strike="noStrike" cap="none" spc="0">
                <a:latin typeface="Arial"/>
                <a:ea typeface="Calibri"/>
                <a:cs typeface="Arial"/>
              </a:rPr>
              <a:t> </a:t>
            </a:r>
            <a:r>
              <a:rPr lang="en-US" sz="1400" b="0" i="0" u="none" strike="noStrike" cap="none" spc="0" err="1">
                <a:latin typeface="Arial"/>
                <a:ea typeface="Calibri"/>
                <a:cs typeface="Arial"/>
              </a:rPr>
              <a:t>localStorage</a:t>
            </a:r>
            <a:r>
              <a:rPr lang="en-US" sz="1400" b="0" i="0" u="none" strike="noStrike" cap="none" spc="0">
                <a:latin typeface="Arial"/>
                <a:ea typeface="Calibri"/>
                <a:cs typeface="Arial"/>
              </a:rPr>
              <a:t> → </a:t>
            </a:r>
            <a:r>
              <a:rPr lang="en-US" sz="1400" b="0" i="0" u="none" strike="noStrike" cap="none" spc="0" err="1">
                <a:latin typeface="Arial"/>
                <a:ea typeface="Calibri"/>
                <a:cs typeface="Arial"/>
              </a:rPr>
              <a:t>отображение</a:t>
            </a:r>
            <a:r>
              <a:rPr lang="en-US" sz="1400">
                <a:latin typeface="Arial"/>
                <a:ea typeface="Calibri"/>
                <a:cs typeface="Arial"/>
              </a:rPr>
              <a:t> </a:t>
            </a:r>
            <a:r>
              <a:rPr lang="en-US" sz="1400" err="1">
                <a:latin typeface="Arial"/>
                <a:ea typeface="Calibri"/>
                <a:cs typeface="Arial"/>
              </a:rPr>
              <a:t>формы</a:t>
            </a:r>
            <a:endParaRPr lang="ru-RU" sz="1400" b="0" i="0" u="none" strike="noStrike" cap="none" spc="0">
              <a:latin typeface="Arial"/>
              <a:cs typeface="Arial"/>
            </a:endParaRPr>
          </a:p>
          <a:p>
            <a:pPr>
              <a:defRPr/>
            </a:pPr>
            <a:endParaRPr lang="ru-RU" sz="1400" b="0" i="0" u="none" strike="noStrike" cap="none" spc="0">
              <a:latin typeface="Arial"/>
              <a:cs typeface="Arial"/>
            </a:endParaRPr>
          </a:p>
          <a:p>
            <a:pPr>
              <a:defRPr/>
            </a:pPr>
            <a:r>
              <a:rPr lang="en-US" sz="1400">
                <a:latin typeface="Arial"/>
                <a:ea typeface="Calibri"/>
                <a:cs typeface="Arial"/>
              </a:rPr>
              <a:t>РАСЧЁТ</a:t>
            </a:r>
            <a:endParaRPr lang="ru-RU" sz="1400" b="0" i="0" u="none" strike="noStrike" cap="none" spc="0">
              <a:latin typeface="Arial"/>
              <a:cs typeface="Arial"/>
            </a:endParaRPr>
          </a:p>
          <a:p>
            <a:pPr>
              <a:defRPr/>
            </a:pPr>
            <a:r>
              <a:rPr lang="en-US" sz="1400">
                <a:latin typeface="Arial"/>
                <a:ea typeface="Calibri"/>
                <a:cs typeface="Arial"/>
              </a:rPr>
              <a:t>↓</a:t>
            </a:r>
            <a:endParaRPr lang="ru-RU" sz="1400" b="0" i="0" u="none" strike="noStrike" cap="none" spc="0">
              <a:latin typeface="Arial"/>
              <a:cs typeface="Arial"/>
            </a:endParaRPr>
          </a:p>
          <a:p>
            <a:pPr>
              <a:defRPr/>
            </a:pPr>
            <a:r>
              <a:rPr lang="en-US" sz="1400" b="0" i="0" u="none" strike="noStrike" cap="none" spc="0" err="1">
                <a:latin typeface="Arial"/>
                <a:ea typeface="Calibri"/>
                <a:cs typeface="Arial"/>
              </a:rPr>
              <a:t>Форма</a:t>
            </a:r>
            <a:r>
              <a:rPr lang="en-US" sz="1400" b="0" i="0" u="none" strike="noStrike" cap="none" spc="0">
                <a:latin typeface="Arial"/>
                <a:ea typeface="Calibri"/>
                <a:cs typeface="Arial"/>
              </a:rPr>
              <a:t> → </a:t>
            </a:r>
            <a:r>
              <a:rPr lang="en-US" sz="1400" b="0" i="0" u="none" strike="noStrike" cap="none" spc="0" err="1">
                <a:latin typeface="Arial"/>
                <a:ea typeface="Calibri"/>
                <a:cs typeface="Arial"/>
              </a:rPr>
              <a:t>валидация</a:t>
            </a:r>
            <a:r>
              <a:rPr lang="en-US" sz="1400" b="0" i="0" u="none" strike="noStrike" cap="none" spc="0">
                <a:latin typeface="Arial"/>
                <a:ea typeface="Calibri"/>
                <a:cs typeface="Arial"/>
              </a:rPr>
              <a:t> → </a:t>
            </a:r>
            <a:r>
              <a:rPr lang="en-US" sz="1400" err="1">
                <a:latin typeface="Arial"/>
                <a:ea typeface="Calibri"/>
                <a:cs typeface="Arial"/>
              </a:rPr>
              <a:t>расчёт</a:t>
            </a:r>
            <a:r>
              <a:rPr lang="en-US" sz="1400">
                <a:latin typeface="Arial"/>
                <a:ea typeface="Calibri"/>
                <a:cs typeface="Arial"/>
              </a:rPr>
              <a:t> КБЖУ → </a:t>
            </a:r>
            <a:r>
              <a:rPr lang="en-US" sz="1400" err="1">
                <a:latin typeface="Arial"/>
                <a:ea typeface="Calibri"/>
                <a:cs typeface="Arial"/>
              </a:rPr>
              <a:t>отображение</a:t>
            </a:r>
            <a:r>
              <a:rPr lang="en-US" sz="1400">
                <a:latin typeface="Arial"/>
                <a:ea typeface="Calibri"/>
                <a:cs typeface="Arial"/>
              </a:rPr>
              <a:t> </a:t>
            </a:r>
            <a:r>
              <a:rPr lang="en-US" sz="1400" err="1">
                <a:latin typeface="Arial"/>
                <a:ea typeface="Calibri"/>
                <a:cs typeface="Arial"/>
              </a:rPr>
              <a:t>результата</a:t>
            </a:r>
            <a:endParaRPr lang="ru-RU" sz="1400">
              <a:latin typeface="Arial"/>
              <a:ea typeface="Calibri"/>
              <a:cs typeface="Arial"/>
            </a:endParaRPr>
          </a:p>
          <a:p>
            <a:pPr>
              <a:defRPr/>
            </a:pPr>
            <a:endParaRPr lang="ru-RU" sz="1400">
              <a:latin typeface="Arial"/>
              <a:ea typeface="Calibri"/>
              <a:cs typeface="Arial"/>
            </a:endParaRPr>
          </a:p>
          <a:p>
            <a:pPr>
              <a:defRPr/>
            </a:pPr>
            <a:r>
              <a:rPr lang="en-US" sz="1400">
                <a:latin typeface="Arial"/>
                <a:ea typeface="Calibri"/>
                <a:cs typeface="Arial"/>
              </a:rPr>
              <a:t>СОХРАНЕНИЕ</a:t>
            </a:r>
            <a:endParaRPr lang="ru-RU" sz="1400">
              <a:latin typeface="Arial"/>
              <a:ea typeface="Calibri"/>
              <a:cs typeface="Arial"/>
            </a:endParaRPr>
          </a:p>
          <a:p>
            <a:pPr>
              <a:defRPr/>
            </a:pPr>
            <a:r>
              <a:rPr lang="en-US" sz="1400">
                <a:latin typeface="Arial"/>
                <a:ea typeface="Calibri"/>
                <a:cs typeface="Arial"/>
              </a:rPr>
              <a:t>↓</a:t>
            </a:r>
            <a:endParaRPr lang="ru-RU" sz="1400">
              <a:latin typeface="Arial"/>
              <a:ea typeface="Calibri"/>
              <a:cs typeface="Arial"/>
            </a:endParaRPr>
          </a:p>
          <a:p>
            <a:pPr>
              <a:defRPr/>
            </a:pPr>
            <a:r>
              <a:rPr lang="en-US" sz="1400" err="1">
                <a:latin typeface="Arial"/>
                <a:ea typeface="Calibri"/>
                <a:cs typeface="Arial"/>
              </a:rPr>
              <a:t>Данные</a:t>
            </a:r>
            <a:r>
              <a:rPr lang="en-US" sz="1400">
                <a:latin typeface="Arial"/>
                <a:ea typeface="Calibri"/>
                <a:cs typeface="Arial"/>
              </a:rPr>
              <a:t> → JSON </a:t>
            </a:r>
            <a:r>
              <a:rPr lang="en-US" sz="1400" b="0" i="0" u="none" strike="noStrike" cap="none" spc="0">
                <a:latin typeface="Arial"/>
                <a:ea typeface="Calibri"/>
                <a:cs typeface="Arial"/>
              </a:rPr>
              <a:t>→ </a:t>
            </a:r>
            <a:r>
              <a:rPr lang="en-US" sz="1400" b="0" i="0" u="none" strike="noStrike" cap="none" spc="0" err="1">
                <a:latin typeface="Arial"/>
                <a:ea typeface="Calibri"/>
                <a:cs typeface="Arial"/>
              </a:rPr>
              <a:t>localStorage</a:t>
            </a:r>
            <a:r>
              <a:rPr lang="en-US" sz="1400" b="0" i="0" u="none" strike="noStrike" cap="none" spc="0">
                <a:latin typeface="Arial"/>
                <a:ea typeface="Calibri"/>
                <a:cs typeface="Arial"/>
              </a:rPr>
              <a:t> → </a:t>
            </a:r>
            <a:r>
              <a:rPr lang="en-US" sz="1400" err="1">
                <a:latin typeface="Arial"/>
                <a:ea typeface="Calibri"/>
                <a:cs typeface="Arial"/>
              </a:rPr>
              <a:t>сообщение</a:t>
            </a:r>
            <a:endParaRPr lang="ru-RU" sz="1400" b="0" i="0" u="none" strike="noStrike" cap="none" spc="0">
              <a:latin typeface="Arial"/>
              <a:cs typeface="Arial"/>
            </a:endParaRPr>
          </a:p>
          <a:p>
            <a:pPr>
              <a:defRPr/>
            </a:pPr>
            <a:endParaRPr lang="ru-RU" sz="1400" b="0" i="0" u="none" strike="noStrike" cap="none" spc="0">
              <a:latin typeface="Arial"/>
              <a:cs typeface="Arial"/>
            </a:endParaRPr>
          </a:p>
          <a:p>
            <a:pPr>
              <a:defRPr/>
            </a:pPr>
            <a:r>
              <a:rPr lang="en-US" sz="1400">
                <a:latin typeface="Arial"/>
                <a:ea typeface="Calibri"/>
                <a:cs typeface="Arial"/>
              </a:rPr>
              <a:t>ЗАГРУЗКА</a:t>
            </a:r>
            <a:endParaRPr lang="ru-RU" sz="1400" b="0" i="0" u="none" strike="noStrike" cap="none" spc="0">
              <a:latin typeface="Arial"/>
              <a:cs typeface="Arial"/>
            </a:endParaRPr>
          </a:p>
          <a:p>
            <a:pPr>
              <a:defRPr/>
            </a:pPr>
            <a:r>
              <a:rPr lang="en-US" sz="1400">
                <a:latin typeface="Arial"/>
                <a:ea typeface="Calibri"/>
                <a:cs typeface="Arial"/>
              </a:rPr>
              <a:t>↓</a:t>
            </a:r>
            <a:endParaRPr lang="ru-RU" sz="1400" b="0" i="0" u="none" strike="noStrike" cap="none" spc="0">
              <a:latin typeface="Arial"/>
              <a:cs typeface="Arial"/>
            </a:endParaRPr>
          </a:p>
          <a:p>
            <a:pPr>
              <a:defRPr/>
            </a:pPr>
            <a:r>
              <a:rPr lang="en-US" sz="1400" err="1">
                <a:latin typeface="Arial"/>
                <a:ea typeface="Calibri"/>
                <a:cs typeface="Arial"/>
              </a:rPr>
              <a:t>localStorage</a:t>
            </a:r>
            <a:r>
              <a:rPr lang="en-US" sz="1400">
                <a:latin typeface="Arial"/>
                <a:ea typeface="Calibri"/>
                <a:cs typeface="Arial"/>
              </a:rPr>
              <a:t> → JSON </a:t>
            </a:r>
            <a:r>
              <a:rPr lang="en-US" sz="1400" b="0" i="0" u="none" strike="noStrike" cap="none" spc="0">
                <a:latin typeface="Arial"/>
                <a:ea typeface="Calibri"/>
                <a:cs typeface="Arial"/>
              </a:rPr>
              <a:t>→ </a:t>
            </a:r>
            <a:r>
              <a:rPr lang="en-US" sz="1400" err="1">
                <a:latin typeface="Arial"/>
                <a:ea typeface="Calibri"/>
                <a:cs typeface="Arial"/>
              </a:rPr>
              <a:t>заполнение</a:t>
            </a:r>
            <a:r>
              <a:rPr lang="en-US" sz="1400">
                <a:latin typeface="Arial"/>
                <a:ea typeface="Calibri"/>
                <a:cs typeface="Arial"/>
              </a:rPr>
              <a:t> </a:t>
            </a:r>
            <a:r>
              <a:rPr lang="en-US" sz="1400" err="1">
                <a:latin typeface="Arial"/>
                <a:ea typeface="Calibri"/>
                <a:cs typeface="Arial"/>
              </a:rPr>
              <a:t>полей</a:t>
            </a:r>
            <a:r>
              <a:rPr lang="en-US" sz="1400">
                <a:latin typeface="Arial"/>
                <a:ea typeface="Calibri"/>
                <a:cs typeface="Arial"/>
              </a:rPr>
              <a:t> </a:t>
            </a:r>
            <a:r>
              <a:rPr lang="en-US" sz="1400" b="0" i="0" u="none" strike="noStrike" cap="none" spc="0">
                <a:latin typeface="Arial"/>
                <a:ea typeface="Calibri"/>
                <a:cs typeface="Arial"/>
              </a:rPr>
              <a:t>→ </a:t>
            </a:r>
            <a:r>
              <a:rPr lang="en-US" sz="1400" b="0" i="0" u="none" strike="noStrike" cap="none" spc="0" err="1">
                <a:latin typeface="Arial"/>
                <a:ea typeface="Calibri"/>
                <a:cs typeface="Arial"/>
              </a:rPr>
              <a:t>отображение</a:t>
            </a:r>
            <a:r>
              <a:rPr lang="en-US" sz="1400">
                <a:latin typeface="Arial"/>
                <a:ea typeface="Calibri"/>
                <a:cs typeface="Arial"/>
              </a:rPr>
              <a:t> </a:t>
            </a:r>
            <a:r>
              <a:rPr lang="en-US" sz="1400" err="1">
                <a:latin typeface="Arial"/>
                <a:ea typeface="Calibri"/>
                <a:cs typeface="Arial"/>
              </a:rPr>
              <a:t>результата</a:t>
            </a:r>
            <a:endParaRPr lang="ru-RU" sz="1400" b="0" i="0" u="none" strike="noStrike" cap="none" spc="0">
              <a:latin typeface="Arial"/>
              <a:cs typeface="Arial"/>
            </a:endParaRPr>
          </a:p>
          <a:p>
            <a:pPr>
              <a:defRPr/>
            </a:pPr>
            <a:endParaRPr lang="ru-RU" sz="1400" b="0" i="0" u="none" strike="noStrike" cap="none" spc="0">
              <a:latin typeface="Arial"/>
              <a:cs typeface="Arial"/>
            </a:endParaRPr>
          </a:p>
          <a:p>
            <a:pPr>
              <a:defRPr/>
            </a:pPr>
            <a:r>
              <a:rPr lang="en-US" sz="1400">
                <a:latin typeface="Arial"/>
                <a:ea typeface="Calibri"/>
                <a:cs typeface="Arial"/>
              </a:rPr>
              <a:t>ГЕНЕРАЦИЯ МЕНЮ</a:t>
            </a:r>
            <a:endParaRPr lang="ru-RU" sz="1400" b="0" i="0" u="none" strike="noStrike" cap="none" spc="0">
              <a:latin typeface="Arial"/>
              <a:cs typeface="Arial"/>
            </a:endParaRPr>
          </a:p>
          <a:p>
            <a:pPr>
              <a:defRPr/>
            </a:pPr>
            <a:r>
              <a:rPr lang="en-US" sz="1400">
                <a:latin typeface="Arial"/>
                <a:ea typeface="Calibri"/>
                <a:cs typeface="Arial"/>
              </a:rPr>
              <a:t>↓</a:t>
            </a:r>
            <a:endParaRPr lang="ru-RU" sz="1400" b="0" i="0" u="none" strike="noStrike" cap="none" spc="0">
              <a:latin typeface="Arial"/>
              <a:cs typeface="Arial"/>
            </a:endParaRPr>
          </a:p>
          <a:p>
            <a:pPr>
              <a:defRPr/>
            </a:pPr>
            <a:r>
              <a:rPr lang="en-US" sz="1400">
                <a:latin typeface="Arial"/>
                <a:ea typeface="Calibri"/>
                <a:cs typeface="Arial"/>
              </a:rPr>
              <a:t>Выбор </a:t>
            </a:r>
            <a:r>
              <a:rPr lang="en-US" sz="1400" err="1">
                <a:latin typeface="Arial"/>
                <a:ea typeface="Calibri"/>
                <a:cs typeface="Arial"/>
              </a:rPr>
              <a:t>случайных</a:t>
            </a:r>
            <a:r>
              <a:rPr lang="en-US" sz="1400">
                <a:latin typeface="Arial"/>
                <a:ea typeface="Calibri"/>
                <a:cs typeface="Arial"/>
              </a:rPr>
              <a:t> </a:t>
            </a:r>
            <a:r>
              <a:rPr lang="en-US" sz="1400" err="1">
                <a:latin typeface="Arial"/>
                <a:ea typeface="Calibri"/>
                <a:cs typeface="Arial"/>
              </a:rPr>
              <a:t>рецептов</a:t>
            </a:r>
            <a:r>
              <a:rPr lang="en-US" sz="1400">
                <a:latin typeface="Arial"/>
                <a:ea typeface="Calibri"/>
                <a:cs typeface="Arial"/>
              </a:rPr>
              <a:t> </a:t>
            </a:r>
            <a:r>
              <a:rPr lang="en-US" sz="1400" b="0" i="0" u="none" strike="noStrike" cap="none" spc="0">
                <a:latin typeface="Arial"/>
                <a:ea typeface="Calibri"/>
                <a:cs typeface="Arial"/>
              </a:rPr>
              <a:t>→ </a:t>
            </a:r>
            <a:r>
              <a:rPr lang="en-US" sz="1400" err="1">
                <a:latin typeface="Arial"/>
                <a:ea typeface="Calibri"/>
                <a:cs typeface="Arial"/>
              </a:rPr>
              <a:t>отображение</a:t>
            </a:r>
            <a:r>
              <a:rPr lang="en-US" sz="1400">
                <a:latin typeface="Arial"/>
                <a:ea typeface="Calibri"/>
                <a:cs typeface="Arial"/>
              </a:rPr>
              <a:t> </a:t>
            </a:r>
            <a:r>
              <a:rPr lang="en-US" sz="1400" err="1">
                <a:latin typeface="Arial"/>
                <a:ea typeface="Calibri"/>
                <a:cs typeface="Arial"/>
              </a:rPr>
              <a:t>блюд</a:t>
            </a:r>
            <a:r>
              <a:rPr lang="en-US" sz="1400">
                <a:latin typeface="Arial"/>
                <a:ea typeface="Calibri"/>
                <a:cs typeface="Arial"/>
              </a:rPr>
              <a:t> </a:t>
            </a:r>
            <a:r>
              <a:rPr lang="en-US" sz="1400" b="0" i="0" u="none" strike="noStrike" cap="none" spc="0">
                <a:latin typeface="Arial"/>
                <a:ea typeface="Calibri"/>
                <a:cs typeface="Arial"/>
              </a:rPr>
              <a:t>→ </a:t>
            </a:r>
            <a:r>
              <a:rPr lang="en-US" sz="1400" err="1">
                <a:latin typeface="Arial"/>
                <a:ea typeface="Calibri"/>
                <a:cs typeface="Arial"/>
              </a:rPr>
              <a:t>расчёт</a:t>
            </a:r>
            <a:r>
              <a:rPr lang="en-US" sz="1400">
                <a:latin typeface="Arial"/>
                <a:ea typeface="Calibri"/>
                <a:cs typeface="Arial"/>
              </a:rPr>
              <a:t> </a:t>
            </a:r>
            <a:r>
              <a:rPr lang="en-US" sz="1400" err="1">
                <a:latin typeface="Arial"/>
                <a:ea typeface="Calibri"/>
                <a:cs typeface="Arial"/>
              </a:rPr>
              <a:t>итогов</a:t>
            </a:r>
            <a:endParaRPr lang="ru-RU" sz="1400">
              <a:latin typeface="Arial"/>
              <a:ea typeface="Calibri"/>
              <a:cs typeface="Arial"/>
            </a:endParaRPr>
          </a:p>
          <a:p>
            <a:pPr>
              <a:defRPr/>
            </a:pPr>
            <a:endParaRPr lang="ru-RU" sz="1400">
              <a:latin typeface="Arial"/>
              <a:ea typeface="Calibri"/>
              <a:cs typeface="Arial"/>
            </a:endParaRPr>
          </a:p>
          <a:p>
            <a:pPr>
              <a:defRPr/>
            </a:pPr>
            <a:r>
              <a:rPr lang="en-US" sz="1400">
                <a:latin typeface="Arial"/>
                <a:ea typeface="Calibri"/>
                <a:cs typeface="Arial"/>
              </a:rPr>
              <a:t>ОБНОВЛЕНИЕ МЕНЮ</a:t>
            </a:r>
            <a:endParaRPr lang="ru-RU" sz="1400">
              <a:latin typeface="Arial"/>
              <a:ea typeface="Calibri"/>
              <a:cs typeface="Arial"/>
            </a:endParaRPr>
          </a:p>
          <a:p>
            <a:pPr>
              <a:defRPr/>
            </a:pPr>
            <a:r>
              <a:rPr lang="en-US" sz="1400">
                <a:latin typeface="Arial"/>
                <a:ea typeface="Calibri"/>
                <a:cs typeface="Arial"/>
              </a:rPr>
              <a:t>↓</a:t>
            </a:r>
            <a:endParaRPr lang="ru-RU" sz="1400">
              <a:latin typeface="Arial"/>
              <a:ea typeface="Calibri"/>
              <a:cs typeface="Arial"/>
            </a:endParaRPr>
          </a:p>
          <a:p>
            <a:pPr>
              <a:defRPr/>
            </a:pPr>
            <a:r>
              <a:rPr lang="en-US" sz="1400">
                <a:latin typeface="Arial"/>
                <a:ea typeface="Calibri"/>
                <a:cs typeface="Arial"/>
              </a:rPr>
              <a:t>Новые</a:t>
            </a:r>
            <a:r>
              <a:rPr lang="en-US" sz="1400">
                <a:latin typeface="Arial"/>
                <a:cs typeface="Arial"/>
              </a:rPr>
              <a:t> </a:t>
            </a:r>
            <a:r>
              <a:rPr lang="en-US" sz="1400" err="1">
                <a:latin typeface="Arial"/>
                <a:ea typeface="Calibri"/>
                <a:cs typeface="Arial"/>
              </a:rPr>
              <a:t>случайные</a:t>
            </a:r>
            <a:r>
              <a:rPr lang="en-US" sz="1400">
                <a:latin typeface="Arial"/>
                <a:ea typeface="Calibri"/>
                <a:cs typeface="Arial"/>
              </a:rPr>
              <a:t> </a:t>
            </a:r>
            <a:r>
              <a:rPr lang="en-US" sz="1400" err="1">
                <a:latin typeface="Arial"/>
                <a:ea typeface="Calibri"/>
                <a:cs typeface="Arial"/>
              </a:rPr>
              <a:t>рецепты</a:t>
            </a:r>
            <a:r>
              <a:rPr lang="en-US" sz="1400">
                <a:latin typeface="Arial"/>
                <a:ea typeface="Calibri"/>
                <a:cs typeface="Arial"/>
              </a:rPr>
              <a:t> </a:t>
            </a:r>
            <a:r>
              <a:rPr lang="en-US" sz="1400" b="0" i="0" u="none" strike="noStrike" cap="none" spc="0">
                <a:latin typeface="Arial"/>
                <a:ea typeface="Calibri"/>
                <a:cs typeface="Arial"/>
              </a:rPr>
              <a:t>→ </a:t>
            </a:r>
            <a:r>
              <a:rPr lang="en-US" sz="1400" err="1">
                <a:latin typeface="Arial"/>
                <a:ea typeface="Calibri"/>
                <a:cs typeface="Arial"/>
              </a:rPr>
              <a:t>перерисовка</a:t>
            </a:r>
            <a:endParaRPr lang="ru-RU" sz="1400" b="0" i="0" u="none" strike="noStrike" cap="none" spc="0">
              <a:latin typeface="Arial"/>
              <a:cs typeface="Arial"/>
            </a:endParaRPr>
          </a:p>
          <a:p>
            <a:pPr>
              <a:defRPr/>
            </a:pPr>
            <a:endParaRPr lang="ru-RU" sz="1400" b="0" i="0" u="none" strike="noStrike" cap="none" spc="0">
              <a:latin typeface="Arial"/>
              <a:cs typeface="Arial"/>
            </a:endParaRPr>
          </a:p>
          <a:p>
            <a:pPr>
              <a:defRPr/>
            </a:pPr>
            <a:r>
              <a:rPr lang="en-US" sz="1400">
                <a:latin typeface="Arial"/>
                <a:ea typeface="Calibri"/>
                <a:cs typeface="Arial"/>
              </a:rPr>
              <a:t>ЗАКРЫТИЕ МЕНЮ</a:t>
            </a:r>
            <a:endParaRPr lang="ru-RU" sz="1400">
              <a:latin typeface="Arial"/>
              <a:ea typeface="Calibri"/>
              <a:cs typeface="Arial"/>
            </a:endParaRPr>
          </a:p>
          <a:p>
            <a:pPr>
              <a:defRPr/>
            </a:pPr>
            <a:r>
              <a:rPr lang="en-US" sz="1400">
                <a:latin typeface="Arial"/>
                <a:ea typeface="Calibri"/>
                <a:cs typeface="Arial"/>
              </a:rPr>
              <a:t>↓</a:t>
            </a:r>
            <a:endParaRPr lang="ru-RU" sz="1400">
              <a:latin typeface="Arial"/>
              <a:ea typeface="Calibri"/>
              <a:cs typeface="Arial"/>
            </a:endParaRPr>
          </a:p>
          <a:p>
            <a:pPr>
              <a:defRPr/>
            </a:pPr>
            <a:r>
              <a:rPr lang="en-US" sz="1400" err="1">
                <a:latin typeface="Arial"/>
                <a:ea typeface="Calibri"/>
                <a:cs typeface="Arial"/>
              </a:rPr>
              <a:t>Скрытие</a:t>
            </a:r>
            <a:r>
              <a:rPr lang="en-US" sz="1400">
                <a:latin typeface="Arial"/>
                <a:ea typeface="Calibri"/>
                <a:cs typeface="Arial"/>
              </a:rPr>
              <a:t> </a:t>
            </a:r>
            <a:r>
              <a:rPr lang="en-US" sz="1400" err="1">
                <a:latin typeface="Arial"/>
                <a:ea typeface="Calibri"/>
                <a:cs typeface="Arial"/>
              </a:rPr>
              <a:t>блока</a:t>
            </a:r>
            <a:endParaRPr lang="en-US" sz="1400">
              <a:latin typeface="Arial"/>
              <a:ea typeface="Calibri"/>
              <a:cs typeface="Arial"/>
            </a:endParaRPr>
          </a:p>
          <a:p>
            <a:pPr>
              <a:defRPr/>
            </a:pPr>
            <a:endParaRPr lang="ru-RU" sz="1400">
              <a:latin typeface="Calibri"/>
              <a:ea typeface="Calibri"/>
              <a:cs typeface="Calibri"/>
            </a:endParaRPr>
          </a:p>
        </p:txBody>
      </p:sp>
      <p:sp>
        <p:nvSpPr>
          <p:cNvPr id="235626458" name="TextBox 235626457"/>
          <p:cNvSpPr txBox="1"/>
          <p:nvPr/>
        </p:nvSpPr>
        <p:spPr bwMode="auto">
          <a:xfrm>
            <a:off x="732232" y="103906"/>
            <a:ext cx="5619369" cy="649280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400" i="0" u="none">
                <a:ea typeface="+mn-lt"/>
                <a:cs typeface="+mn-lt"/>
              </a:rPr>
              <a:t>1. </a:t>
            </a:r>
            <a:r>
              <a:rPr lang="en-US" sz="1400" i="0" u="none" err="1">
                <a:ea typeface="+mn-lt"/>
                <a:cs typeface="+mn-lt"/>
              </a:rPr>
              <a:t>Запуск</a:t>
            </a:r>
            <a:endParaRPr lang="en-US" sz="1400">
              <a:ea typeface="+mn-lt"/>
              <a:cs typeface="+mn-lt"/>
            </a:endParaRPr>
          </a:p>
          <a:p>
            <a:pPr>
              <a:defRPr/>
            </a:pPr>
            <a:r>
              <a:rPr lang="en-US" sz="1400" b="0" i="0" u="none" err="1">
                <a:ea typeface="+mn-lt"/>
                <a:cs typeface="+mn-lt"/>
              </a:rPr>
              <a:t>Приложение</a:t>
            </a:r>
            <a:r>
              <a:rPr lang="en-US" sz="1400" b="0" i="0" u="none">
                <a:ea typeface="+mn-lt"/>
                <a:cs typeface="+mn-lt"/>
              </a:rPr>
              <a:t> </a:t>
            </a:r>
            <a:r>
              <a:rPr lang="en-US" sz="1400" b="0" i="0" u="none" err="1">
                <a:ea typeface="+mn-lt"/>
                <a:cs typeface="+mn-lt"/>
              </a:rPr>
              <a:t>загружает</a:t>
            </a:r>
            <a:r>
              <a:rPr lang="en-US" sz="1400" b="0" i="0" u="none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профиль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b="0" i="0" u="none" err="1">
                <a:ea typeface="+mn-lt"/>
                <a:cs typeface="+mn-lt"/>
              </a:rPr>
              <a:t>из</a:t>
            </a:r>
            <a:r>
              <a:rPr lang="en-US" sz="1400" b="0" i="0" u="none">
                <a:ea typeface="+mn-lt"/>
                <a:cs typeface="+mn-lt"/>
              </a:rPr>
              <a:t> </a:t>
            </a:r>
            <a:r>
              <a:rPr lang="en-US" sz="1400" b="0" i="0" u="none" err="1">
                <a:ea typeface="+mn-lt"/>
                <a:cs typeface="+mn-lt"/>
              </a:rPr>
              <a:t>localStorage</a:t>
            </a:r>
            <a:endParaRPr lang="en-US" sz="1400">
              <a:ea typeface="+mn-lt"/>
              <a:cs typeface="+mn-lt"/>
            </a:endParaRPr>
          </a:p>
          <a:p>
            <a:pPr>
              <a:defRPr/>
            </a:pPr>
            <a:r>
              <a:rPr lang="en-US" sz="1400" b="0" i="0" u="none">
                <a:ea typeface="+mn-lt"/>
                <a:cs typeface="+mn-lt"/>
              </a:rPr>
              <a:t>Если </a:t>
            </a:r>
            <a:r>
              <a:rPr lang="en-US" sz="1400" b="0" i="0" u="none" err="1">
                <a:ea typeface="+mn-lt"/>
                <a:cs typeface="+mn-lt"/>
              </a:rPr>
              <a:t>данных</a:t>
            </a:r>
            <a:r>
              <a:rPr lang="en-US" sz="1400" b="0" i="0" u="none">
                <a:ea typeface="+mn-lt"/>
                <a:cs typeface="+mn-lt"/>
              </a:rPr>
              <a:t> </a:t>
            </a:r>
            <a:r>
              <a:rPr lang="en-US" sz="1400" b="0" i="0" u="none" err="1">
                <a:ea typeface="+mn-lt"/>
                <a:cs typeface="+mn-lt"/>
              </a:rPr>
              <a:t>нет</a:t>
            </a:r>
            <a:r>
              <a:rPr lang="en-US" sz="1400" b="0" i="0" u="none">
                <a:ea typeface="+mn-lt"/>
                <a:cs typeface="+mn-lt"/>
              </a:rPr>
              <a:t> — </a:t>
            </a:r>
            <a:r>
              <a:rPr lang="en-US" sz="1400" err="1">
                <a:ea typeface="+mn-lt"/>
                <a:cs typeface="+mn-lt"/>
              </a:rPr>
              <a:t>поля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ввода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пустые</a:t>
            </a:r>
            <a:endParaRPr sz="1400"/>
          </a:p>
          <a:p>
            <a:pPr>
              <a:defRPr/>
            </a:pPr>
            <a:r>
              <a:rPr lang="en-US" sz="1400" b="0" i="0" u="none">
                <a:ea typeface="+mn-lt"/>
                <a:cs typeface="+mn-lt"/>
              </a:rPr>
              <a:t>Отображает </a:t>
            </a:r>
            <a:r>
              <a:rPr lang="en-US" sz="1400" err="1">
                <a:ea typeface="+mn-lt"/>
                <a:cs typeface="+mn-lt"/>
              </a:rPr>
              <a:t>форму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для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ввода</a:t>
            </a:r>
            <a:endParaRPr lang="ru-RU" sz="1400"/>
          </a:p>
          <a:p>
            <a:pPr>
              <a:defRPr/>
            </a:pPr>
            <a:r>
              <a:rPr lang="en-US" sz="1400" i="0" u="none">
                <a:ea typeface="+mn-lt"/>
                <a:cs typeface="+mn-lt"/>
              </a:rPr>
              <a:t>2. </a:t>
            </a:r>
            <a:r>
              <a:rPr lang="en-US" sz="1400" err="1">
                <a:ea typeface="+mn-lt"/>
                <a:cs typeface="+mn-lt"/>
              </a:rPr>
              <a:t>Расчёт</a:t>
            </a:r>
            <a:r>
              <a:rPr lang="en-US" sz="1400">
                <a:ea typeface="+mn-lt"/>
                <a:cs typeface="+mn-lt"/>
              </a:rPr>
              <a:t> КБЖУ</a:t>
            </a:r>
            <a:endParaRPr sz="1400"/>
          </a:p>
          <a:p>
            <a:pPr>
              <a:defRPr/>
            </a:pPr>
            <a:r>
              <a:rPr lang="en-US" sz="1400" b="0" i="0" u="none">
                <a:ea typeface="+mn-lt"/>
                <a:cs typeface="+mn-lt"/>
              </a:rPr>
              <a:t>Пользователь </a:t>
            </a:r>
            <a:r>
              <a:rPr lang="en-US" sz="1400" err="1">
                <a:ea typeface="+mn-lt"/>
                <a:cs typeface="+mn-lt"/>
              </a:rPr>
              <a:t>вводит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данные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b="0" i="0" u="none">
                <a:ea typeface="+mn-lt"/>
                <a:cs typeface="+mn-lt"/>
              </a:rPr>
              <a:t>и </a:t>
            </a:r>
            <a:r>
              <a:rPr lang="en-US" sz="1400" b="0" i="0" u="none" err="1">
                <a:ea typeface="+mn-lt"/>
                <a:cs typeface="+mn-lt"/>
              </a:rPr>
              <a:t>нажимает</a:t>
            </a:r>
            <a:r>
              <a:rPr lang="en-US" sz="1400" b="0" i="0" u="none">
                <a:ea typeface="+mn-lt"/>
                <a:cs typeface="+mn-lt"/>
              </a:rPr>
              <a:t> «</a:t>
            </a:r>
            <a:r>
              <a:rPr lang="en-US" sz="1400" err="1">
                <a:ea typeface="+mn-lt"/>
                <a:cs typeface="+mn-lt"/>
              </a:rPr>
              <a:t>Рассчитать</a:t>
            </a:r>
            <a:r>
              <a:rPr lang="en-US" sz="1400" b="0" i="0" u="none">
                <a:ea typeface="+mn-lt"/>
                <a:cs typeface="+mn-lt"/>
              </a:rPr>
              <a:t>»</a:t>
            </a:r>
            <a:endParaRPr lang="en-US" sz="1400">
              <a:ea typeface="+mn-lt"/>
              <a:cs typeface="+mn-lt"/>
            </a:endParaRPr>
          </a:p>
          <a:p>
            <a:pPr>
              <a:defRPr/>
            </a:pPr>
            <a:r>
              <a:rPr lang="en-US" sz="1400" b="0" i="0" u="none" err="1">
                <a:ea typeface="+mn-lt"/>
                <a:cs typeface="+mn-lt"/>
              </a:rPr>
              <a:t>Проверка</a:t>
            </a:r>
            <a:r>
              <a:rPr lang="en-US" sz="1400" b="0" i="0" u="none">
                <a:ea typeface="+mn-lt"/>
                <a:cs typeface="+mn-lt"/>
              </a:rPr>
              <a:t>: </a:t>
            </a:r>
            <a:r>
              <a:rPr lang="en-US" sz="1400" err="1">
                <a:ea typeface="+mn-lt"/>
                <a:cs typeface="+mn-lt"/>
              </a:rPr>
              <a:t>все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поля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заполнены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числами</a:t>
            </a:r>
            <a:endParaRPr sz="1400"/>
          </a:p>
          <a:p>
            <a:pPr>
              <a:defRPr/>
            </a:pPr>
            <a:r>
              <a:rPr lang="en-US" sz="1400" b="0" i="0" u="none">
                <a:ea typeface="+mn-lt"/>
                <a:cs typeface="+mn-lt"/>
              </a:rPr>
              <a:t>Если </a:t>
            </a:r>
            <a:r>
              <a:rPr lang="en-US" sz="1400" b="0" i="0" u="none" err="1">
                <a:ea typeface="+mn-lt"/>
                <a:cs typeface="+mn-lt"/>
              </a:rPr>
              <a:t>всё</a:t>
            </a:r>
            <a:r>
              <a:rPr lang="en-US" sz="1400" b="0" i="0" u="none">
                <a:ea typeface="+mn-lt"/>
                <a:cs typeface="+mn-lt"/>
              </a:rPr>
              <a:t> </a:t>
            </a:r>
            <a:r>
              <a:rPr lang="en-US" sz="1400" b="0" i="0" u="none" err="1">
                <a:ea typeface="+mn-lt"/>
                <a:cs typeface="+mn-lt"/>
              </a:rPr>
              <a:t>правильно</a:t>
            </a:r>
            <a:r>
              <a:rPr lang="en-US" sz="1400" b="0" i="0" u="none">
                <a:ea typeface="+mn-lt"/>
                <a:cs typeface="+mn-lt"/>
              </a:rPr>
              <a:t> — </a:t>
            </a:r>
            <a:r>
              <a:rPr lang="en-US" sz="1400">
                <a:ea typeface="+mn-lt"/>
                <a:cs typeface="+mn-lt"/>
              </a:rPr>
              <a:t>КБЖУ </a:t>
            </a:r>
            <a:r>
              <a:rPr lang="en-US" sz="1400" err="1">
                <a:ea typeface="+mn-lt"/>
                <a:cs typeface="+mn-lt"/>
              </a:rPr>
              <a:t>рассчитывается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b="0" i="0" u="none">
                <a:ea typeface="+mn-lt"/>
                <a:cs typeface="+mn-lt"/>
              </a:rPr>
              <a:t>и </a:t>
            </a:r>
            <a:r>
              <a:rPr lang="en-US" sz="1400" err="1">
                <a:ea typeface="+mn-lt"/>
                <a:cs typeface="+mn-lt"/>
              </a:rPr>
              <a:t>отображается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на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экране</a:t>
            </a:r>
            <a:endParaRPr lang="ru-RU" sz="1400"/>
          </a:p>
          <a:p>
            <a:pPr>
              <a:defRPr/>
            </a:pPr>
            <a:r>
              <a:rPr lang="en-US" sz="1400" i="0" u="none">
                <a:ea typeface="+mn-lt"/>
                <a:cs typeface="+mn-lt"/>
              </a:rPr>
              <a:t>3. </a:t>
            </a:r>
            <a:r>
              <a:rPr lang="en-US" sz="1400" err="1">
                <a:ea typeface="+mn-lt"/>
                <a:cs typeface="+mn-lt"/>
              </a:rPr>
              <a:t>Сохранение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профиля</a:t>
            </a:r>
            <a:endParaRPr sz="1400"/>
          </a:p>
          <a:p>
            <a:pPr>
              <a:defRPr/>
            </a:pPr>
            <a:r>
              <a:rPr lang="en-US" sz="1400" b="0" i="0" u="none">
                <a:ea typeface="+mn-lt"/>
                <a:cs typeface="+mn-lt"/>
              </a:rPr>
              <a:t>Пользователь </a:t>
            </a:r>
            <a:r>
              <a:rPr lang="en-US" sz="1400" b="0" i="0" u="none" err="1">
                <a:ea typeface="+mn-lt"/>
                <a:cs typeface="+mn-lt"/>
              </a:rPr>
              <a:t>нажимает</a:t>
            </a:r>
            <a:r>
              <a:rPr lang="en-US" sz="1400" b="0" i="0" u="none">
                <a:ea typeface="+mn-lt"/>
                <a:cs typeface="+mn-lt"/>
              </a:rPr>
              <a:t> </a:t>
            </a:r>
            <a:r>
              <a:rPr lang="en-US" sz="1400">
                <a:ea typeface="+mn-lt"/>
                <a:cs typeface="+mn-lt"/>
              </a:rPr>
              <a:t>«</a:t>
            </a:r>
            <a:r>
              <a:rPr lang="en-US" sz="1400" err="1">
                <a:ea typeface="+mn-lt"/>
                <a:cs typeface="+mn-lt"/>
              </a:rPr>
              <a:t>Сохранить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профиль</a:t>
            </a:r>
            <a:r>
              <a:rPr lang="en-US" sz="1400">
                <a:ea typeface="+mn-lt"/>
                <a:cs typeface="+mn-lt"/>
              </a:rPr>
              <a:t>»</a:t>
            </a:r>
            <a:endParaRPr lang="ru-RU" sz="1400"/>
          </a:p>
          <a:p>
            <a:pPr>
              <a:defRPr/>
            </a:pPr>
            <a:r>
              <a:rPr lang="en-US" sz="1400">
                <a:ea typeface="+mn-lt"/>
                <a:cs typeface="+mn-lt"/>
              </a:rPr>
              <a:t>Данные </a:t>
            </a:r>
            <a:r>
              <a:rPr lang="en-US" sz="1400" err="1">
                <a:ea typeface="+mn-lt"/>
                <a:cs typeface="+mn-lt"/>
              </a:rPr>
              <a:t>превращаются</a:t>
            </a:r>
            <a:r>
              <a:rPr lang="en-US" sz="1400">
                <a:ea typeface="+mn-lt"/>
                <a:cs typeface="+mn-lt"/>
              </a:rPr>
              <a:t> в JSON и </a:t>
            </a:r>
            <a:r>
              <a:rPr lang="en-US" sz="1400" err="1">
                <a:ea typeface="+mn-lt"/>
                <a:cs typeface="+mn-lt"/>
              </a:rPr>
              <a:t>сохраняются</a:t>
            </a:r>
            <a:r>
              <a:rPr lang="en-US" sz="1400">
                <a:ea typeface="+mn-lt"/>
                <a:cs typeface="+mn-lt"/>
              </a:rPr>
              <a:t> в </a:t>
            </a:r>
            <a:r>
              <a:rPr lang="en-US" sz="1400" err="1">
                <a:ea typeface="+mn-lt"/>
                <a:cs typeface="+mn-lt"/>
              </a:rPr>
              <a:t>localStorage</a:t>
            </a:r>
            <a:endParaRPr sz="1400"/>
          </a:p>
          <a:p>
            <a:pPr>
              <a:defRPr/>
            </a:pPr>
            <a:r>
              <a:rPr lang="en-US" sz="1400">
                <a:ea typeface="+mn-lt"/>
                <a:cs typeface="+mn-lt"/>
              </a:rPr>
              <a:t>Появляется </a:t>
            </a:r>
            <a:r>
              <a:rPr lang="en-US" sz="1400" err="1">
                <a:ea typeface="+mn-lt"/>
                <a:cs typeface="+mn-lt"/>
              </a:rPr>
              <a:t>сообщение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b="0" i="0" u="none">
                <a:ea typeface="+mn-lt"/>
                <a:cs typeface="+mn-lt"/>
              </a:rPr>
              <a:t>«</a:t>
            </a:r>
            <a:r>
              <a:rPr lang="en-US" sz="1400" err="1">
                <a:ea typeface="+mn-lt"/>
                <a:cs typeface="+mn-lt"/>
              </a:rPr>
              <a:t>Сохранено</a:t>
            </a:r>
            <a:r>
              <a:rPr lang="en-US" sz="1400">
                <a:ea typeface="+mn-lt"/>
                <a:cs typeface="+mn-lt"/>
              </a:rPr>
              <a:t>»</a:t>
            </a:r>
            <a:endParaRPr lang="ru-RU" sz="1400"/>
          </a:p>
          <a:p>
            <a:pPr>
              <a:defRPr/>
            </a:pPr>
            <a:r>
              <a:rPr lang="en-US" sz="1400">
                <a:ea typeface="+mn-lt"/>
                <a:cs typeface="+mn-lt"/>
              </a:rPr>
              <a:t>4. </a:t>
            </a:r>
            <a:r>
              <a:rPr lang="en-US" sz="1400" err="1">
                <a:ea typeface="+mn-lt"/>
                <a:cs typeface="+mn-lt"/>
              </a:rPr>
              <a:t>Загрузка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профиля</a:t>
            </a:r>
            <a:endParaRPr sz="1400"/>
          </a:p>
          <a:p>
            <a:pPr>
              <a:defRPr/>
            </a:pPr>
            <a:r>
              <a:rPr lang="en-US" sz="1400">
                <a:ea typeface="+mn-lt"/>
                <a:cs typeface="+mn-lt"/>
              </a:rPr>
              <a:t>Пользователь </a:t>
            </a:r>
            <a:r>
              <a:rPr lang="en-US" sz="1400" err="1">
                <a:ea typeface="+mn-lt"/>
                <a:cs typeface="+mn-lt"/>
              </a:rPr>
              <a:t>нажимает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b="0" i="0" u="none">
                <a:ea typeface="+mn-lt"/>
                <a:cs typeface="+mn-lt"/>
              </a:rPr>
              <a:t>«</a:t>
            </a:r>
            <a:r>
              <a:rPr lang="en-US" sz="1400" err="1">
                <a:ea typeface="+mn-lt"/>
                <a:cs typeface="+mn-lt"/>
              </a:rPr>
              <a:t>Загрузить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профиль</a:t>
            </a:r>
            <a:r>
              <a:rPr lang="en-US" sz="1400" b="0" i="0" u="none">
                <a:ea typeface="+mn-lt"/>
                <a:cs typeface="+mn-lt"/>
              </a:rPr>
              <a:t>»</a:t>
            </a:r>
            <a:endParaRPr lang="en-US" sz="1400">
              <a:ea typeface="+mn-lt"/>
              <a:cs typeface="+mn-lt"/>
            </a:endParaRPr>
          </a:p>
          <a:p>
            <a:pPr>
              <a:defRPr/>
            </a:pPr>
            <a:r>
              <a:rPr lang="en-US" sz="1400">
                <a:ea typeface="+mn-lt"/>
                <a:cs typeface="+mn-lt"/>
              </a:rPr>
              <a:t>Данные </a:t>
            </a:r>
            <a:r>
              <a:rPr lang="en-US" sz="1400" err="1">
                <a:ea typeface="+mn-lt"/>
                <a:cs typeface="+mn-lt"/>
              </a:rPr>
              <a:t>читаются</a:t>
            </a:r>
            <a:r>
              <a:rPr lang="en-US" sz="1400" b="0" i="0" u="none">
                <a:ea typeface="+mn-lt"/>
                <a:cs typeface="+mn-lt"/>
              </a:rPr>
              <a:t> </a:t>
            </a:r>
            <a:r>
              <a:rPr lang="en-US" sz="1400" b="0" i="0" u="none" err="1">
                <a:ea typeface="+mn-lt"/>
                <a:cs typeface="+mn-lt"/>
              </a:rPr>
              <a:t>из</a:t>
            </a:r>
            <a:r>
              <a:rPr lang="en-US" sz="1400" b="0" i="0" u="none">
                <a:ea typeface="+mn-lt"/>
                <a:cs typeface="+mn-lt"/>
              </a:rPr>
              <a:t> </a:t>
            </a:r>
            <a:r>
              <a:rPr lang="en-US" sz="1400" b="0" i="0" u="none" err="1">
                <a:ea typeface="+mn-lt"/>
                <a:cs typeface="+mn-lt"/>
              </a:rPr>
              <a:t>localStorage</a:t>
            </a:r>
            <a:r>
              <a:rPr lang="en-US" sz="1400" b="0" i="0" u="none">
                <a:ea typeface="+mn-lt"/>
                <a:cs typeface="+mn-lt"/>
              </a:rPr>
              <a:t> и </a:t>
            </a:r>
            <a:r>
              <a:rPr lang="en-US" sz="1400" err="1">
                <a:ea typeface="+mn-lt"/>
                <a:cs typeface="+mn-lt"/>
              </a:rPr>
              <a:t>заполняют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поля</a:t>
            </a:r>
            <a:endParaRPr lang="ru-RU" sz="1400"/>
          </a:p>
          <a:p>
            <a:pPr>
              <a:defRPr/>
            </a:pPr>
            <a:r>
              <a:rPr lang="en-US" sz="1400">
                <a:ea typeface="+mn-lt"/>
                <a:cs typeface="+mn-lt"/>
              </a:rPr>
              <a:t>Результат </a:t>
            </a:r>
            <a:r>
              <a:rPr lang="en-US" sz="1400" err="1">
                <a:ea typeface="+mn-lt"/>
                <a:cs typeface="+mn-lt"/>
              </a:rPr>
              <a:t>расчёта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сразу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отображается</a:t>
            </a:r>
            <a:endParaRPr lang="ru-RU" sz="1400"/>
          </a:p>
          <a:p>
            <a:pPr>
              <a:defRPr/>
            </a:pPr>
            <a:r>
              <a:rPr lang="en-US" sz="1400">
                <a:ea typeface="+mn-lt"/>
                <a:cs typeface="+mn-lt"/>
              </a:rPr>
              <a:t>5</a:t>
            </a:r>
            <a:r>
              <a:rPr lang="en-US" sz="1400" i="0" u="none">
                <a:ea typeface="+mn-lt"/>
                <a:cs typeface="+mn-lt"/>
              </a:rPr>
              <a:t>. </a:t>
            </a:r>
            <a:r>
              <a:rPr lang="en-US" sz="1400" err="1">
                <a:ea typeface="+mn-lt"/>
                <a:cs typeface="+mn-lt"/>
              </a:rPr>
              <a:t>Генерация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меню</a:t>
            </a:r>
            <a:endParaRPr sz="1400"/>
          </a:p>
          <a:p>
            <a:pPr>
              <a:defRPr/>
            </a:pPr>
            <a:r>
              <a:rPr lang="en-US" sz="1400" b="0" i="0" u="none">
                <a:ea typeface="+mn-lt"/>
                <a:cs typeface="+mn-lt"/>
              </a:rPr>
              <a:t>Пользователь </a:t>
            </a:r>
            <a:r>
              <a:rPr lang="en-US" sz="1400" err="1">
                <a:ea typeface="+mn-lt"/>
                <a:cs typeface="+mn-lt"/>
              </a:rPr>
              <a:t>нажимает</a:t>
            </a:r>
            <a:r>
              <a:rPr lang="en-US" sz="1400">
                <a:ea typeface="+mn-lt"/>
                <a:cs typeface="+mn-lt"/>
              </a:rPr>
              <a:t> «</a:t>
            </a:r>
            <a:r>
              <a:rPr lang="en-US" sz="1400" err="1">
                <a:ea typeface="+mn-lt"/>
                <a:cs typeface="+mn-lt"/>
              </a:rPr>
              <a:t>Меню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на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день</a:t>
            </a:r>
            <a:r>
              <a:rPr lang="en-US" sz="1400">
                <a:ea typeface="+mn-lt"/>
                <a:cs typeface="+mn-lt"/>
              </a:rPr>
              <a:t>»</a:t>
            </a:r>
            <a:endParaRPr lang="ru-RU" sz="1400"/>
          </a:p>
          <a:p>
            <a:pPr>
              <a:defRPr/>
            </a:pPr>
            <a:r>
              <a:rPr lang="en-US" sz="1400" err="1">
                <a:ea typeface="+mn-lt"/>
                <a:cs typeface="+mn-lt"/>
              </a:rPr>
              <a:t>Приложение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b="0" i="0" u="none" err="1">
                <a:ea typeface="+mn-lt"/>
                <a:cs typeface="+mn-lt"/>
              </a:rPr>
              <a:t>выбирает</a:t>
            </a:r>
            <a:r>
              <a:rPr lang="en-US" sz="1400" b="0" i="0" u="none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случайные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рецепты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для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каждого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приёма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пищи</a:t>
            </a:r>
            <a:endParaRPr lang="ru-RU" sz="1400"/>
          </a:p>
          <a:p>
            <a:pPr>
              <a:defRPr/>
            </a:pPr>
            <a:r>
              <a:rPr lang="en-US" sz="1400">
                <a:ea typeface="+mn-lt"/>
                <a:cs typeface="+mn-lt"/>
              </a:rPr>
              <a:t>Отображаются </a:t>
            </a:r>
            <a:r>
              <a:rPr lang="en-US" sz="1400" err="1">
                <a:ea typeface="+mn-lt"/>
                <a:cs typeface="+mn-lt"/>
              </a:rPr>
              <a:t>блюда</a:t>
            </a:r>
            <a:r>
              <a:rPr lang="en-US" sz="1400">
                <a:ea typeface="+mn-lt"/>
                <a:cs typeface="+mn-lt"/>
              </a:rPr>
              <a:t> с КБЖУ</a:t>
            </a:r>
            <a:r>
              <a:rPr lang="en-US" sz="1400" b="0" i="0" u="none">
                <a:ea typeface="+mn-lt"/>
                <a:cs typeface="+mn-lt"/>
              </a:rPr>
              <a:t>, </a:t>
            </a:r>
            <a:r>
              <a:rPr lang="en-US" sz="1400" err="1">
                <a:ea typeface="+mn-lt"/>
                <a:cs typeface="+mn-lt"/>
              </a:rPr>
              <a:t>ингредиентами</a:t>
            </a:r>
            <a:r>
              <a:rPr lang="en-US" sz="1400">
                <a:ea typeface="+mn-lt"/>
                <a:cs typeface="+mn-lt"/>
              </a:rPr>
              <a:t> и </a:t>
            </a:r>
            <a:r>
              <a:rPr lang="en-US" sz="1400" err="1">
                <a:ea typeface="+mn-lt"/>
                <a:cs typeface="+mn-lt"/>
              </a:rPr>
              <a:t>рецептами</a:t>
            </a:r>
            <a:endParaRPr lang="ru-RU" sz="1400"/>
          </a:p>
          <a:p>
            <a:pPr>
              <a:defRPr/>
            </a:pPr>
            <a:r>
              <a:rPr lang="en-US" sz="1400" err="1">
                <a:ea typeface="+mn-lt"/>
                <a:cs typeface="+mn-lt"/>
              </a:rPr>
              <a:t>Показывается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итоговая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калорийность</a:t>
            </a:r>
            <a:r>
              <a:rPr lang="en-US" sz="1400">
                <a:ea typeface="+mn-lt"/>
                <a:cs typeface="+mn-lt"/>
              </a:rPr>
              <a:t> и </a:t>
            </a:r>
            <a:r>
              <a:rPr lang="en-US" sz="1400" err="1">
                <a:ea typeface="+mn-lt"/>
                <a:cs typeface="+mn-lt"/>
              </a:rPr>
              <a:t>отклонение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от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нормы</a:t>
            </a:r>
            <a:endParaRPr lang="ru-RU" sz="1400"/>
          </a:p>
          <a:p>
            <a:pPr>
              <a:defRPr/>
            </a:pPr>
            <a:r>
              <a:rPr lang="en-US" sz="1400">
                <a:ea typeface="+mn-lt"/>
                <a:cs typeface="+mn-lt"/>
              </a:rPr>
              <a:t>6. </a:t>
            </a:r>
            <a:r>
              <a:rPr lang="en-US" sz="1400" err="1">
                <a:ea typeface="+mn-lt"/>
                <a:cs typeface="+mn-lt"/>
              </a:rPr>
              <a:t>Обновление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меню</a:t>
            </a:r>
            <a:endParaRPr lang="ru-RU" sz="1400"/>
          </a:p>
          <a:p>
            <a:pPr>
              <a:defRPr/>
            </a:pPr>
            <a:r>
              <a:rPr lang="en-US" sz="1400">
                <a:ea typeface="+mn-lt"/>
                <a:cs typeface="+mn-lt"/>
              </a:rPr>
              <a:t>Пользователь </a:t>
            </a:r>
            <a:r>
              <a:rPr lang="en-US" sz="1400" err="1">
                <a:ea typeface="+mn-lt"/>
                <a:cs typeface="+mn-lt"/>
              </a:rPr>
              <a:t>нажимает</a:t>
            </a:r>
            <a:r>
              <a:rPr lang="en-US" sz="1400">
                <a:ea typeface="+mn-lt"/>
                <a:cs typeface="+mn-lt"/>
              </a:rPr>
              <a:t> «</a:t>
            </a:r>
            <a:r>
              <a:rPr lang="en-US" sz="1400" err="1">
                <a:ea typeface="+mn-lt"/>
                <a:cs typeface="+mn-lt"/>
              </a:rPr>
              <a:t>Обновить</a:t>
            </a:r>
            <a:r>
              <a:rPr lang="en-US" sz="1400">
                <a:ea typeface="+mn-lt"/>
                <a:cs typeface="+mn-lt"/>
              </a:rPr>
              <a:t>»</a:t>
            </a:r>
            <a:endParaRPr lang="ru-RU" sz="1400"/>
          </a:p>
          <a:p>
            <a:pPr>
              <a:defRPr/>
            </a:pPr>
            <a:r>
              <a:rPr lang="en-US" sz="1400">
                <a:ea typeface="+mn-lt"/>
                <a:cs typeface="+mn-lt"/>
              </a:rPr>
              <a:t>Выбираются </a:t>
            </a:r>
            <a:r>
              <a:rPr lang="en-US" sz="1400" err="1">
                <a:ea typeface="+mn-lt"/>
                <a:cs typeface="+mn-lt"/>
              </a:rPr>
              <a:t>новые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случайные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рецепты</a:t>
            </a:r>
            <a:endParaRPr lang="ru-RU" sz="1400"/>
          </a:p>
          <a:p>
            <a:pPr>
              <a:defRPr/>
            </a:pPr>
            <a:r>
              <a:rPr lang="en-US" sz="1400" err="1">
                <a:ea typeface="+mn-lt"/>
                <a:cs typeface="+mn-lt"/>
              </a:rPr>
              <a:t>Меню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перерисовывается</a:t>
            </a:r>
            <a:endParaRPr sz="1400"/>
          </a:p>
          <a:p>
            <a:pPr>
              <a:defRPr/>
            </a:pPr>
            <a:r>
              <a:rPr lang="en-US" sz="1400">
                <a:ea typeface="+mn-lt"/>
                <a:cs typeface="+mn-lt"/>
              </a:rPr>
              <a:t>7. </a:t>
            </a:r>
            <a:r>
              <a:rPr lang="en-US" sz="1400" err="1">
                <a:ea typeface="+mn-lt"/>
                <a:cs typeface="+mn-lt"/>
              </a:rPr>
              <a:t>Закрытие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меню</a:t>
            </a:r>
            <a:endParaRPr sz="1400"/>
          </a:p>
          <a:p>
            <a:pPr>
              <a:defRPr/>
            </a:pPr>
            <a:r>
              <a:rPr lang="en-US" sz="1400">
                <a:ea typeface="+mn-lt"/>
                <a:cs typeface="+mn-lt"/>
              </a:rPr>
              <a:t>Пользователь </a:t>
            </a:r>
            <a:r>
              <a:rPr lang="en-US" sz="1400" err="1">
                <a:ea typeface="+mn-lt"/>
                <a:cs typeface="+mn-lt"/>
              </a:rPr>
              <a:t>нажимает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b="0" i="0" u="none">
                <a:ea typeface="+mn-lt"/>
                <a:cs typeface="+mn-lt"/>
              </a:rPr>
              <a:t>«</a:t>
            </a:r>
            <a:r>
              <a:rPr lang="en-US" sz="1400" err="1">
                <a:ea typeface="+mn-lt"/>
                <a:cs typeface="+mn-lt"/>
              </a:rPr>
              <a:t>Закрыть</a:t>
            </a:r>
            <a:r>
              <a:rPr lang="en-US" sz="1400" b="0" i="0" u="none">
                <a:ea typeface="+mn-lt"/>
                <a:cs typeface="+mn-lt"/>
              </a:rPr>
              <a:t>»</a:t>
            </a:r>
            <a:endParaRPr lang="en-US" sz="1400">
              <a:ea typeface="+mn-lt"/>
              <a:cs typeface="+mn-lt"/>
            </a:endParaRPr>
          </a:p>
          <a:p>
            <a:pPr>
              <a:defRPr/>
            </a:pPr>
            <a:r>
              <a:rPr lang="en-US" sz="1400" err="1">
                <a:ea typeface="+mn-lt"/>
                <a:cs typeface="+mn-lt"/>
              </a:rPr>
              <a:t>Блок</a:t>
            </a:r>
            <a:r>
              <a:rPr lang="en-US" sz="1400">
                <a:ea typeface="+mn-lt"/>
                <a:cs typeface="+mn-lt"/>
              </a:rPr>
              <a:t> с </a:t>
            </a:r>
            <a:r>
              <a:rPr lang="en-US" sz="1400" err="1">
                <a:ea typeface="+mn-lt"/>
                <a:cs typeface="+mn-lt"/>
              </a:rPr>
              <a:t>меню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скрывается</a:t>
            </a:r>
            <a:endParaRPr lang="ru-RU" sz="1400"/>
          </a:p>
          <a:p>
            <a:pPr>
              <a:defRPr/>
            </a:pPr>
            <a:endParaRPr lang="ru-RU" sz="1400"/>
          </a:p>
        </p:txBody>
      </p:sp>
      <p:sp>
        <p:nvSpPr>
          <p:cNvPr id="721982653" name="Прямоугольник 721982652"/>
          <p:cNvSpPr/>
          <p:nvPr/>
        </p:nvSpPr>
        <p:spPr bwMode="auto">
          <a:xfrm>
            <a:off x="-29713" y="-4853"/>
            <a:ext cx="491416" cy="6867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39005502" name="TextBox 1439005501"/>
          <p:cNvSpPr txBox="1"/>
          <p:nvPr/>
        </p:nvSpPr>
        <p:spPr bwMode="auto">
          <a:xfrm>
            <a:off x="1656612" y="1834"/>
            <a:ext cx="597088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b="1"/>
              <a:t>Алгоритм работы приложения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276933" name="Объект 2"/>
          <p:cNvSpPr>
            <a:spLocks noGrp="1"/>
          </p:cNvSpPr>
          <p:nvPr>
            <p:ph idx="1"/>
          </p:nvPr>
        </p:nvSpPr>
        <p:spPr bwMode="auto">
          <a:xfrm>
            <a:off x="641772" y="623273"/>
            <a:ext cx="10905051" cy="560788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7500" lnSpcReduction="20000"/>
          </a:bodyPr>
          <a:lstStyle/>
          <a:p>
            <a:pPr>
              <a:defRPr/>
            </a:pPr>
            <a:r>
              <a:rPr lang="en-US" sz="1200" b="1" i="0" u="none" dirty="0" err="1">
                <a:ea typeface="+mn-lt"/>
                <a:cs typeface="+mn-lt"/>
              </a:rPr>
              <a:t>Проблема</a:t>
            </a:r>
            <a:r>
              <a:rPr lang="en-US" sz="1200" b="1" i="0" u="none" dirty="0">
                <a:ea typeface="+mn-lt"/>
                <a:cs typeface="+mn-lt"/>
              </a:rPr>
              <a:t> </a:t>
            </a:r>
            <a:r>
              <a:rPr lang="en-US" sz="1200" b="1" dirty="0">
                <a:ea typeface="+mn-lt"/>
                <a:cs typeface="+mn-lt"/>
              </a:rPr>
              <a:t>1</a:t>
            </a:r>
            <a:r>
              <a:rPr lang="en-US" sz="1200" b="1" i="0" u="none" dirty="0">
                <a:ea typeface="+mn-lt"/>
                <a:cs typeface="+mn-lt"/>
              </a:rPr>
              <a:t>:</a:t>
            </a:r>
            <a:r>
              <a:rPr lang="en-US" sz="1200" b="0" i="0" u="none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После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перезагрузки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страницы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результаты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расчёта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исчезали</a:t>
            </a:r>
            <a:endParaRPr lang="ru-RU" dirty="0" err="1"/>
          </a:p>
          <a:p>
            <a:pPr>
              <a:defRPr/>
            </a:pPr>
            <a:r>
              <a:rPr lang="en-US" sz="1200" b="1" i="0" u="none" dirty="0">
                <a:ea typeface="+mn-lt"/>
                <a:cs typeface="+mn-lt"/>
              </a:rPr>
              <a:t>Какая </a:t>
            </a:r>
            <a:r>
              <a:rPr lang="en-US" sz="1200" b="1" i="0" u="none" dirty="0" err="1">
                <a:ea typeface="+mn-lt"/>
                <a:cs typeface="+mn-lt"/>
              </a:rPr>
              <a:t>функция</a:t>
            </a:r>
            <a:r>
              <a:rPr lang="en-US" sz="1200" b="1" i="0" u="none" dirty="0">
                <a:ea typeface="+mn-lt"/>
                <a:cs typeface="+mn-lt"/>
              </a:rPr>
              <a:t> </a:t>
            </a:r>
            <a:r>
              <a:rPr lang="en-US" sz="1200" b="1" i="0" u="none" dirty="0" err="1">
                <a:ea typeface="+mn-lt"/>
                <a:cs typeface="+mn-lt"/>
              </a:rPr>
              <a:t>решила</a:t>
            </a:r>
            <a:r>
              <a:rPr lang="en-US" sz="1200" b="1" i="0" u="none" dirty="0">
                <a:ea typeface="+mn-lt"/>
                <a:cs typeface="+mn-lt"/>
              </a:rPr>
              <a:t>:</a:t>
            </a:r>
            <a:r>
              <a:rPr lang="en-US" sz="1200" b="0" i="0" u="none" dirty="0">
                <a:ea typeface="+mn-lt"/>
                <a:cs typeface="+mn-lt"/>
              </a:rPr>
              <a:t> </a:t>
            </a:r>
            <a:r>
              <a:rPr lang="en-US" sz="1200" dirty="0" err="1">
                <a:latin typeface="Consolas"/>
                <a:ea typeface="Arial"/>
                <a:cs typeface="Arial"/>
              </a:rPr>
              <a:t>saveProfile</a:t>
            </a:r>
            <a:r>
              <a:rPr lang="en-US" sz="1200" dirty="0">
                <a:latin typeface="Consolas"/>
                <a:ea typeface="Arial"/>
                <a:cs typeface="Arial"/>
              </a:rPr>
              <a:t>()</a:t>
            </a:r>
            <a:r>
              <a:rPr lang="en-US" sz="1200" dirty="0">
                <a:ea typeface="+mn-lt"/>
                <a:cs typeface="+mn-lt"/>
              </a:rPr>
              <a:t> и </a:t>
            </a:r>
            <a:r>
              <a:rPr lang="en-US" sz="1200" dirty="0" err="1">
                <a:latin typeface="Consolas"/>
                <a:ea typeface="Arial"/>
                <a:cs typeface="Arial"/>
              </a:rPr>
              <a:t>loadProfile</a:t>
            </a:r>
            <a:r>
              <a:rPr lang="en-US" sz="1200" b="0" i="0" u="none" dirty="0">
                <a:latin typeface="Consolas"/>
                <a:ea typeface="Arial"/>
                <a:cs typeface="Arial"/>
              </a:rPr>
              <a:t>()</a:t>
            </a:r>
            <a:r>
              <a:rPr lang="en-US" sz="1200" dirty="0">
                <a:ea typeface="+mn-lt"/>
                <a:cs typeface="+mn-lt"/>
              </a:rPr>
              <a:t> в </a:t>
            </a:r>
            <a:r>
              <a:rPr lang="en-US" sz="1200" dirty="0">
                <a:latin typeface="Consolas"/>
                <a:ea typeface="Arial"/>
                <a:cs typeface="Arial"/>
              </a:rPr>
              <a:t>storage.js</a:t>
            </a:r>
            <a:endParaRPr dirty="0"/>
          </a:p>
          <a:p>
            <a:pPr>
              <a:defRPr/>
            </a:pPr>
            <a:r>
              <a:rPr lang="en-US" sz="1200" b="1" i="0" u="none" dirty="0">
                <a:ea typeface="+mn-lt"/>
                <a:cs typeface="+mn-lt"/>
              </a:rPr>
              <a:t>Как </a:t>
            </a:r>
            <a:r>
              <a:rPr lang="en-US" sz="1200" b="1" i="0" u="none" dirty="0" err="1">
                <a:ea typeface="+mn-lt"/>
                <a:cs typeface="+mn-lt"/>
              </a:rPr>
              <a:t>работает</a:t>
            </a:r>
            <a:r>
              <a:rPr lang="en-US" sz="1200" b="1" i="0" u="none" dirty="0">
                <a:ea typeface="+mn-lt"/>
                <a:cs typeface="+mn-lt"/>
              </a:rPr>
              <a:t>:</a:t>
            </a:r>
            <a:endParaRPr lang="en-US" dirty="0">
              <a:ea typeface="+mn-lt"/>
              <a:cs typeface="+mn-lt"/>
            </a:endParaRPr>
          </a:p>
          <a:p>
            <a:pPr>
              <a:defRPr/>
            </a:pPr>
            <a:r>
              <a:rPr lang="en-US" sz="1200" b="0" i="0" u="none" dirty="0" err="1">
                <a:ea typeface="+mn-lt"/>
                <a:cs typeface="+mn-lt"/>
              </a:rPr>
              <a:t>javascript</a:t>
            </a:r>
            <a:endParaRPr lang="en-US" sz="1200" dirty="0" err="1">
              <a:ea typeface="+mn-lt"/>
              <a:cs typeface="+mn-lt"/>
            </a:endParaRPr>
          </a:p>
          <a:p>
            <a:pPr>
              <a:defRPr/>
            </a:pPr>
            <a:r>
              <a:rPr lang="en-US" sz="1200" dirty="0" err="1">
                <a:latin typeface="Consolas"/>
                <a:ea typeface="Arial"/>
                <a:cs typeface="Arial"/>
              </a:rPr>
              <a:t>localStorage</a:t>
            </a:r>
            <a:r>
              <a:rPr lang="en-US" sz="1200" b="0" i="0" u="none" dirty="0" err="1">
                <a:latin typeface="Consolas"/>
                <a:ea typeface="Arial"/>
                <a:cs typeface="Arial"/>
              </a:rPr>
              <a:t>.</a:t>
            </a:r>
            <a:r>
              <a:rPr lang="en-US" sz="1200" dirty="0" err="1">
                <a:latin typeface="Consolas"/>
                <a:ea typeface="Arial"/>
                <a:cs typeface="Arial"/>
              </a:rPr>
              <a:t>setItem</a:t>
            </a:r>
            <a:r>
              <a:rPr lang="en-US" sz="1200" b="0" i="0" u="none" dirty="0">
                <a:latin typeface="Consolas"/>
                <a:ea typeface="Arial"/>
                <a:cs typeface="Arial"/>
              </a:rPr>
              <a:t>("</a:t>
            </a:r>
            <a:r>
              <a:rPr lang="en-US" sz="1200" dirty="0" err="1">
                <a:latin typeface="Consolas"/>
                <a:ea typeface="Arial"/>
                <a:cs typeface="Arial"/>
              </a:rPr>
              <a:t>dietProfile</a:t>
            </a:r>
            <a:r>
              <a:rPr lang="en-US" sz="1200" b="0" i="0" u="none" dirty="0">
                <a:latin typeface="Consolas"/>
                <a:ea typeface="Arial"/>
                <a:cs typeface="Arial"/>
              </a:rPr>
              <a:t>", </a:t>
            </a:r>
            <a:r>
              <a:rPr lang="en-US" sz="1200" dirty="0" err="1">
                <a:latin typeface="Consolas"/>
                <a:ea typeface="Arial"/>
                <a:cs typeface="Arial"/>
              </a:rPr>
              <a:t>JSON.stringify</a:t>
            </a:r>
            <a:r>
              <a:rPr lang="en-US" sz="1200" dirty="0">
                <a:latin typeface="Consolas"/>
                <a:ea typeface="Arial"/>
                <a:cs typeface="Arial"/>
              </a:rPr>
              <a:t>({ user, </a:t>
            </a:r>
            <a:r>
              <a:rPr lang="en-US" sz="1200" dirty="0" err="1">
                <a:latin typeface="Consolas"/>
                <a:ea typeface="Arial"/>
                <a:cs typeface="Arial"/>
              </a:rPr>
              <a:t>kbju</a:t>
            </a:r>
            <a:r>
              <a:rPr lang="en-US" sz="1200" b="0" i="0" u="none" dirty="0">
                <a:latin typeface="Consolas"/>
                <a:ea typeface="Arial"/>
                <a:cs typeface="Arial"/>
              </a:rPr>
              <a:t>, </a:t>
            </a:r>
            <a:r>
              <a:rPr lang="en-US" sz="1200" dirty="0" err="1">
                <a:latin typeface="Consolas"/>
                <a:ea typeface="Arial"/>
                <a:cs typeface="Arial"/>
              </a:rPr>
              <a:t>savedAt</a:t>
            </a:r>
            <a:r>
              <a:rPr lang="en-US" sz="1200" i="0" u="none" dirty="0">
                <a:latin typeface="Consolas"/>
                <a:ea typeface="Arial"/>
                <a:cs typeface="Arial"/>
              </a:rPr>
              <a:t>:</a:t>
            </a:r>
            <a:r>
              <a:rPr lang="en-US" sz="1200" b="0" i="0" u="none" dirty="0">
                <a:latin typeface="Consolas"/>
                <a:ea typeface="Arial"/>
                <a:cs typeface="Arial"/>
              </a:rPr>
              <a:t> </a:t>
            </a:r>
            <a:r>
              <a:rPr lang="en-US" sz="1200" dirty="0">
                <a:latin typeface="Consolas"/>
                <a:ea typeface="Arial"/>
                <a:cs typeface="Arial"/>
              </a:rPr>
              <a:t>... }));</a:t>
            </a:r>
            <a:endParaRPr dirty="0"/>
          </a:p>
          <a:p>
            <a:pPr>
              <a:defRPr/>
            </a:pPr>
            <a:r>
              <a:rPr lang="en-US" sz="1200" dirty="0">
                <a:ea typeface="+mn-lt"/>
                <a:cs typeface="+mn-lt"/>
              </a:rPr>
              <a:t>Данные </a:t>
            </a:r>
            <a:r>
              <a:rPr lang="en-US" sz="1200" dirty="0" err="1">
                <a:ea typeface="+mn-lt"/>
                <a:cs typeface="+mn-lt"/>
              </a:rPr>
              <a:t>сохраняются</a:t>
            </a:r>
            <a:r>
              <a:rPr lang="en-US" sz="1200" dirty="0">
                <a:ea typeface="+mn-lt"/>
                <a:cs typeface="+mn-lt"/>
              </a:rPr>
              <a:t> в </a:t>
            </a:r>
            <a:r>
              <a:rPr lang="en-US" sz="1200" dirty="0" err="1">
                <a:ea typeface="+mn-lt"/>
                <a:cs typeface="+mn-lt"/>
              </a:rPr>
              <a:t>localStorage</a:t>
            </a:r>
            <a:r>
              <a:rPr lang="en-US" sz="1200" dirty="0">
                <a:ea typeface="+mn-lt"/>
                <a:cs typeface="+mn-lt"/>
              </a:rPr>
              <a:t> и </a:t>
            </a:r>
            <a:r>
              <a:rPr lang="en-US" sz="1200" dirty="0" err="1">
                <a:ea typeface="+mn-lt"/>
                <a:cs typeface="+mn-lt"/>
              </a:rPr>
              <a:t>восстанавливаются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при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загрузке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страницы</a:t>
            </a:r>
            <a:r>
              <a:rPr lang="en-US" sz="1200" b="0" i="0" u="none" dirty="0"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pPr>
              <a:defRPr/>
            </a:pPr>
            <a:r>
              <a:rPr lang="en-US" sz="1200" b="1" i="0" u="none" dirty="0" err="1">
                <a:ea typeface="+mn-lt"/>
                <a:cs typeface="+mn-lt"/>
              </a:rPr>
              <a:t>Проблема</a:t>
            </a:r>
            <a:r>
              <a:rPr lang="en-US" sz="1200" b="1" i="0" u="none" dirty="0">
                <a:ea typeface="+mn-lt"/>
                <a:cs typeface="+mn-lt"/>
              </a:rPr>
              <a:t> </a:t>
            </a:r>
            <a:r>
              <a:rPr lang="en-US" sz="1200" b="1" dirty="0">
                <a:ea typeface="+mn-lt"/>
                <a:cs typeface="+mn-lt"/>
              </a:rPr>
              <a:t>2</a:t>
            </a:r>
            <a:r>
              <a:rPr lang="en-US" sz="1200" b="1" i="0" u="none" dirty="0">
                <a:ea typeface="+mn-lt"/>
                <a:cs typeface="+mn-lt"/>
              </a:rPr>
              <a:t>:</a:t>
            </a:r>
            <a:r>
              <a:rPr lang="en-US" sz="1200" b="0" i="0" u="none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Меню</a:t>
            </a:r>
            <a:r>
              <a:rPr lang="en-US" sz="1200" dirty="0">
                <a:ea typeface="+mn-lt"/>
                <a:cs typeface="+mn-lt"/>
              </a:rPr>
              <a:t>  </a:t>
            </a:r>
            <a:r>
              <a:rPr lang="en-US" sz="1200" dirty="0" err="1">
                <a:ea typeface="+mn-lt"/>
                <a:cs typeface="+mn-lt"/>
              </a:rPr>
              <a:t>генерировалось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одинаковое</a:t>
            </a:r>
            <a:endParaRPr dirty="0" err="1"/>
          </a:p>
          <a:p>
            <a:pPr>
              <a:defRPr/>
            </a:pPr>
            <a:r>
              <a:rPr lang="en-US" sz="1200" b="1" i="0" u="none" dirty="0">
                <a:ea typeface="+mn-lt"/>
                <a:cs typeface="+mn-lt"/>
              </a:rPr>
              <a:t>Какая </a:t>
            </a:r>
            <a:r>
              <a:rPr lang="en-US" sz="1200" b="1" i="0" u="none" dirty="0" err="1">
                <a:ea typeface="+mn-lt"/>
                <a:cs typeface="+mn-lt"/>
              </a:rPr>
              <a:t>функция</a:t>
            </a:r>
            <a:r>
              <a:rPr lang="en-US" sz="1200" b="1" i="0" u="none" dirty="0">
                <a:ea typeface="+mn-lt"/>
                <a:cs typeface="+mn-lt"/>
              </a:rPr>
              <a:t> </a:t>
            </a:r>
            <a:r>
              <a:rPr lang="en-US" sz="1200" b="1" i="0" u="none" dirty="0" err="1">
                <a:ea typeface="+mn-lt"/>
                <a:cs typeface="+mn-lt"/>
              </a:rPr>
              <a:t>решила</a:t>
            </a:r>
            <a:r>
              <a:rPr lang="en-US" sz="1200" b="1" i="0" u="none" dirty="0">
                <a:ea typeface="+mn-lt"/>
                <a:cs typeface="+mn-lt"/>
              </a:rPr>
              <a:t>:</a:t>
            </a:r>
            <a:r>
              <a:rPr lang="en-US" sz="1200" b="0" i="0" u="none" dirty="0">
                <a:ea typeface="+mn-lt"/>
                <a:cs typeface="+mn-lt"/>
              </a:rPr>
              <a:t> </a:t>
            </a:r>
            <a:r>
              <a:rPr lang="en-US" sz="1200" dirty="0" err="1">
                <a:latin typeface="Consolas"/>
                <a:ea typeface="Arial"/>
                <a:cs typeface="Arial"/>
              </a:rPr>
              <a:t>Math.random</a:t>
            </a:r>
            <a:r>
              <a:rPr lang="en-US" sz="1200" dirty="0">
                <a:latin typeface="Consolas"/>
                <a:ea typeface="Arial"/>
                <a:cs typeface="Arial"/>
              </a:rPr>
              <a:t>()</a:t>
            </a:r>
            <a:r>
              <a:rPr lang="en-US" sz="1200" dirty="0">
                <a:ea typeface="+mn-lt"/>
                <a:cs typeface="+mn-lt"/>
              </a:rPr>
              <a:t> в </a:t>
            </a:r>
            <a:r>
              <a:rPr lang="en-US" sz="1200" dirty="0" err="1">
                <a:latin typeface="Consolas"/>
                <a:ea typeface="Arial"/>
                <a:cs typeface="Arial"/>
              </a:rPr>
              <a:t>generateDayMenu</a:t>
            </a:r>
            <a:r>
              <a:rPr lang="en-US" sz="1200" b="0" i="0" u="none" dirty="0">
                <a:latin typeface="Consolas"/>
                <a:ea typeface="Arial"/>
                <a:cs typeface="Arial"/>
              </a:rPr>
              <a:t>()</a:t>
            </a:r>
            <a:endParaRPr lang="en-US" sz="1200" dirty="0">
              <a:latin typeface="Consolas"/>
            </a:endParaRPr>
          </a:p>
          <a:p>
            <a:pPr>
              <a:defRPr/>
            </a:pPr>
            <a:r>
              <a:rPr lang="en-US" sz="1200" b="1" i="0" u="none" dirty="0">
                <a:ea typeface="+mn-lt"/>
                <a:cs typeface="+mn-lt"/>
              </a:rPr>
              <a:t>Как </a:t>
            </a:r>
            <a:r>
              <a:rPr lang="en-US" sz="1200" b="1" i="0" u="none" dirty="0" err="1">
                <a:ea typeface="+mn-lt"/>
                <a:cs typeface="+mn-lt"/>
              </a:rPr>
              <a:t>работает</a:t>
            </a:r>
            <a:r>
              <a:rPr lang="en-US" sz="1200" b="1" i="0" u="none" dirty="0">
                <a:ea typeface="+mn-lt"/>
                <a:cs typeface="+mn-lt"/>
              </a:rPr>
              <a:t>:</a:t>
            </a:r>
            <a:endParaRPr lang="en-US" dirty="0">
              <a:ea typeface="+mn-lt"/>
              <a:cs typeface="+mn-lt"/>
            </a:endParaRPr>
          </a:p>
          <a:p>
            <a:pPr>
              <a:defRPr/>
            </a:pPr>
            <a:r>
              <a:rPr lang="en-US" sz="1200" b="0" i="0" u="none" dirty="0" err="1">
                <a:ea typeface="+mn-lt"/>
                <a:cs typeface="+mn-lt"/>
              </a:rPr>
              <a:t>javascript</a:t>
            </a:r>
            <a:endParaRPr lang="en-US" sz="1200" dirty="0" err="1">
              <a:ea typeface="+mn-lt"/>
              <a:cs typeface="+mn-lt"/>
            </a:endParaRPr>
          </a:p>
          <a:p>
            <a:pPr>
              <a:defRPr/>
            </a:pPr>
            <a:r>
              <a:rPr lang="en-US" sz="1200" dirty="0">
                <a:latin typeface="Consolas"/>
                <a:ea typeface="Arial"/>
                <a:cs typeface="Arial"/>
              </a:rPr>
              <a:t>const </a:t>
            </a:r>
            <a:r>
              <a:rPr lang="en-US" sz="1200" dirty="0" err="1">
                <a:latin typeface="Consolas"/>
                <a:ea typeface="Arial"/>
                <a:cs typeface="Arial"/>
              </a:rPr>
              <a:t>randomIndex</a:t>
            </a:r>
            <a:r>
              <a:rPr lang="en-US" sz="1200" dirty="0">
                <a:latin typeface="Consolas"/>
                <a:ea typeface="Arial"/>
                <a:cs typeface="Arial"/>
              </a:rPr>
              <a:t> = </a:t>
            </a:r>
            <a:r>
              <a:rPr lang="en-US" sz="1200" dirty="0" err="1">
                <a:latin typeface="Consolas"/>
                <a:ea typeface="Arial"/>
                <a:cs typeface="Arial"/>
              </a:rPr>
              <a:t>Math.floor</a:t>
            </a:r>
            <a:r>
              <a:rPr lang="en-US" sz="1200" b="0" i="0" u="none" dirty="0">
                <a:latin typeface="Consolas"/>
                <a:ea typeface="Arial"/>
                <a:cs typeface="Arial"/>
              </a:rPr>
              <a:t>(</a:t>
            </a:r>
            <a:r>
              <a:rPr lang="en-US" sz="1200" dirty="0" err="1">
                <a:latin typeface="Consolas"/>
                <a:ea typeface="Arial"/>
                <a:cs typeface="Arial"/>
              </a:rPr>
              <a:t>Math.random</a:t>
            </a:r>
            <a:r>
              <a:rPr lang="en-US" sz="1200" dirty="0">
                <a:latin typeface="Consolas"/>
                <a:ea typeface="Arial"/>
                <a:cs typeface="Arial"/>
              </a:rPr>
              <a:t>() * </a:t>
            </a:r>
            <a:r>
              <a:rPr lang="en-US" sz="1200" dirty="0" err="1">
                <a:latin typeface="Consolas"/>
                <a:ea typeface="Arial"/>
                <a:cs typeface="Arial"/>
              </a:rPr>
              <a:t>filteredRecipes</a:t>
            </a:r>
            <a:r>
              <a:rPr lang="en-US" sz="1200" b="0" i="0" u="none" dirty="0" err="1">
                <a:latin typeface="Consolas"/>
                <a:ea typeface="Arial"/>
                <a:cs typeface="Arial"/>
              </a:rPr>
              <a:t>.</a:t>
            </a:r>
            <a:r>
              <a:rPr lang="en-US" sz="1200" dirty="0" err="1">
                <a:latin typeface="Consolas"/>
                <a:ea typeface="Arial"/>
                <a:cs typeface="Arial"/>
              </a:rPr>
              <a:t>length</a:t>
            </a:r>
            <a:r>
              <a:rPr lang="en-US" sz="1200" dirty="0">
                <a:latin typeface="Consolas"/>
                <a:ea typeface="Arial"/>
                <a:cs typeface="Arial"/>
              </a:rPr>
              <a:t>);</a:t>
            </a:r>
            <a:endParaRPr lang="ru-RU" dirty="0"/>
          </a:p>
          <a:p>
            <a:pPr>
              <a:defRPr/>
            </a:pPr>
            <a:r>
              <a:rPr lang="en-US" sz="1200" dirty="0">
                <a:ea typeface="+mn-lt"/>
                <a:cs typeface="+mn-lt"/>
              </a:rPr>
              <a:t>При </a:t>
            </a:r>
            <a:r>
              <a:rPr lang="en-US" sz="1200" dirty="0" err="1">
                <a:ea typeface="+mn-lt"/>
                <a:cs typeface="+mn-lt"/>
              </a:rPr>
              <a:t>каждом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нажатии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на</a:t>
            </a:r>
            <a:r>
              <a:rPr lang="en-US" sz="1200" b="0" i="0" u="none" dirty="0">
                <a:ea typeface="+mn-lt"/>
                <a:cs typeface="+mn-lt"/>
              </a:rPr>
              <a:t> «</a:t>
            </a:r>
            <a:r>
              <a:rPr lang="en-US" sz="1200" dirty="0" err="1">
                <a:ea typeface="+mn-lt"/>
                <a:cs typeface="+mn-lt"/>
              </a:rPr>
              <a:t>Меню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b="0" i="0" u="none" dirty="0" err="1">
                <a:ea typeface="+mn-lt"/>
                <a:cs typeface="+mn-lt"/>
              </a:rPr>
              <a:t>на</a:t>
            </a:r>
            <a:r>
              <a:rPr lang="en-US" sz="1200" b="0" i="0" u="none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день</a:t>
            </a:r>
            <a:r>
              <a:rPr lang="en-US" sz="1200" dirty="0">
                <a:ea typeface="+mn-lt"/>
                <a:cs typeface="+mn-lt"/>
              </a:rPr>
              <a:t>» </a:t>
            </a:r>
            <a:r>
              <a:rPr lang="en-US" sz="1200" dirty="0" err="1">
                <a:ea typeface="+mn-lt"/>
                <a:cs typeface="+mn-lt"/>
              </a:rPr>
              <a:t>выбираются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случайные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рецепты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из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базы</a:t>
            </a:r>
            <a:r>
              <a:rPr lang="en-US" sz="1200" b="0" i="0" u="none" dirty="0"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pPr>
              <a:defRPr/>
            </a:pPr>
            <a:r>
              <a:rPr lang="en-US" sz="1200" b="1" dirty="0" err="1">
                <a:ea typeface="+mn-lt"/>
                <a:cs typeface="+mn-lt"/>
              </a:rPr>
              <a:t>Проблема</a:t>
            </a:r>
            <a:r>
              <a:rPr lang="en-US" sz="1200" b="1" dirty="0">
                <a:ea typeface="+mn-lt"/>
                <a:cs typeface="+mn-lt"/>
              </a:rPr>
              <a:t> 4: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На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телефонах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интерфейс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ехал</a:t>
            </a:r>
            <a:r>
              <a:rPr lang="en-US" sz="1200" dirty="0">
                <a:ea typeface="+mn-lt"/>
                <a:cs typeface="+mn-lt"/>
              </a:rPr>
              <a:t> и </a:t>
            </a:r>
            <a:r>
              <a:rPr lang="en-US" sz="1200" dirty="0" err="1">
                <a:ea typeface="+mn-lt"/>
                <a:cs typeface="+mn-lt"/>
              </a:rPr>
              <a:t>был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нечитаемый</a:t>
            </a:r>
            <a:endParaRPr lang="en-US" sz="1200" dirty="0" err="1"/>
          </a:p>
          <a:p>
            <a:pPr>
              <a:defRPr/>
            </a:pPr>
            <a:r>
              <a:rPr lang="en-US" sz="1200" b="1" dirty="0">
                <a:ea typeface="+mn-lt"/>
                <a:cs typeface="+mn-lt"/>
              </a:rPr>
              <a:t>Какая </a:t>
            </a:r>
            <a:r>
              <a:rPr lang="en-US" sz="1200" b="1" dirty="0" err="1">
                <a:ea typeface="+mn-lt"/>
                <a:cs typeface="+mn-lt"/>
              </a:rPr>
              <a:t>функция</a:t>
            </a:r>
            <a:r>
              <a:rPr lang="en-US" sz="1200" b="1" dirty="0">
                <a:ea typeface="+mn-lt"/>
                <a:cs typeface="+mn-lt"/>
              </a:rPr>
              <a:t> </a:t>
            </a:r>
            <a:r>
              <a:rPr lang="en-US" sz="1200" b="1" dirty="0" err="1">
                <a:ea typeface="+mn-lt"/>
                <a:cs typeface="+mn-lt"/>
              </a:rPr>
              <a:t>решила</a:t>
            </a:r>
            <a:r>
              <a:rPr lang="en-US" sz="1200" b="1" dirty="0">
                <a:ea typeface="+mn-lt"/>
                <a:cs typeface="+mn-lt"/>
              </a:rPr>
              <a:t>:</a:t>
            </a:r>
            <a:r>
              <a:rPr lang="en-US" sz="1200" dirty="0">
                <a:ea typeface="+mn-lt"/>
                <a:cs typeface="+mn-lt"/>
              </a:rPr>
              <a:t> CSS-</a:t>
            </a:r>
            <a:r>
              <a:rPr lang="en-US" sz="1200" dirty="0" err="1">
                <a:ea typeface="+mn-lt"/>
                <a:cs typeface="+mn-lt"/>
              </a:rPr>
              <a:t>медиа</a:t>
            </a:r>
            <a:r>
              <a:rPr lang="en-US" sz="1200" dirty="0">
                <a:ea typeface="+mn-lt"/>
                <a:cs typeface="+mn-lt"/>
              </a:rPr>
              <a:t>-</a:t>
            </a:r>
            <a:r>
              <a:rPr lang="en-US" sz="1200" dirty="0" err="1">
                <a:ea typeface="+mn-lt"/>
                <a:cs typeface="+mn-lt"/>
              </a:rPr>
              <a:t>запросы</a:t>
            </a:r>
            <a:endParaRPr lang="en-US" dirty="0" err="1"/>
          </a:p>
          <a:p>
            <a:pPr>
              <a:defRPr/>
            </a:pPr>
            <a:r>
              <a:rPr lang="en-US" sz="1200" b="1" dirty="0">
                <a:ea typeface="+mn-lt"/>
                <a:cs typeface="+mn-lt"/>
              </a:rPr>
              <a:t>Как </a:t>
            </a:r>
            <a:r>
              <a:rPr lang="en-US" sz="1200" b="1" dirty="0" err="1">
                <a:ea typeface="+mn-lt"/>
                <a:cs typeface="+mn-lt"/>
              </a:rPr>
              <a:t>работает</a:t>
            </a:r>
            <a:r>
              <a:rPr lang="en-US" sz="1200" b="1" dirty="0">
                <a:ea typeface="+mn-lt"/>
                <a:cs typeface="+mn-lt"/>
              </a:rPr>
              <a:t>:</a:t>
            </a:r>
            <a:endParaRPr lang="en-US" dirty="0"/>
          </a:p>
          <a:p>
            <a:pPr>
              <a:defRPr/>
            </a:pPr>
            <a:r>
              <a:rPr lang="en-US" sz="1200" dirty="0" err="1">
                <a:ea typeface="+mn-lt"/>
                <a:cs typeface="+mn-lt"/>
              </a:rPr>
              <a:t>css</a:t>
            </a:r>
            <a:endParaRPr lang="en-US" dirty="0" err="1"/>
          </a:p>
          <a:p>
            <a:pPr>
              <a:defRPr/>
            </a:pPr>
            <a:r>
              <a:rPr lang="en-US" sz="1200" dirty="0">
                <a:latin typeface="Consolas"/>
              </a:rPr>
              <a:t>@media (max-width: 480px) {
    .</a:t>
            </a:r>
            <a:r>
              <a:rPr lang="en-US" sz="1200" dirty="0" err="1">
                <a:latin typeface="Consolas"/>
              </a:rPr>
              <a:t>kbju</a:t>
            </a:r>
            <a:r>
              <a:rPr lang="en-US" sz="1200" dirty="0">
                <a:latin typeface="Consolas"/>
              </a:rPr>
              <a:t>-grid {
        grid-template-columns: 1fr;
    }
}</a:t>
            </a:r>
            <a:endParaRPr lang="en-US" dirty="0"/>
          </a:p>
          <a:p>
            <a:pPr>
              <a:defRPr/>
            </a:pPr>
            <a:r>
              <a:rPr lang="en-US" sz="1200" dirty="0" err="1">
                <a:ea typeface="+mn-lt"/>
                <a:cs typeface="+mn-lt"/>
              </a:rPr>
              <a:t>На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экранах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меньше</a:t>
            </a:r>
            <a:r>
              <a:rPr lang="en-US" sz="1200" dirty="0">
                <a:ea typeface="+mn-lt"/>
                <a:cs typeface="+mn-lt"/>
              </a:rPr>
              <a:t> 480px </a:t>
            </a:r>
            <a:r>
              <a:rPr lang="en-US" sz="1200" dirty="0" err="1">
                <a:ea typeface="+mn-lt"/>
                <a:cs typeface="+mn-lt"/>
              </a:rPr>
              <a:t>сетка</a:t>
            </a:r>
            <a:r>
              <a:rPr lang="en-US" sz="1200" dirty="0">
                <a:ea typeface="+mn-lt"/>
                <a:cs typeface="+mn-lt"/>
              </a:rPr>
              <a:t> КБЖУ </a:t>
            </a:r>
            <a:r>
              <a:rPr lang="en-US" sz="1200" dirty="0" err="1">
                <a:ea typeface="+mn-lt"/>
                <a:cs typeface="+mn-lt"/>
              </a:rPr>
              <a:t>перестраивается</a:t>
            </a:r>
            <a:r>
              <a:rPr lang="en-US" sz="1200" dirty="0">
                <a:ea typeface="+mn-lt"/>
                <a:cs typeface="+mn-lt"/>
              </a:rPr>
              <a:t> в </a:t>
            </a:r>
            <a:r>
              <a:rPr lang="en-US" sz="1200" dirty="0" err="1">
                <a:ea typeface="+mn-lt"/>
                <a:cs typeface="+mn-lt"/>
              </a:rPr>
              <a:t>одну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колонку</a:t>
            </a:r>
            <a:r>
              <a:rPr lang="en-US" sz="1200" dirty="0">
                <a:ea typeface="+mn-lt"/>
                <a:cs typeface="+mn-lt"/>
              </a:rPr>
              <a:t>, </a:t>
            </a:r>
            <a:r>
              <a:rPr lang="en-US" sz="1200" dirty="0" err="1">
                <a:ea typeface="+mn-lt"/>
                <a:cs typeface="+mn-lt"/>
              </a:rPr>
              <a:t>все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элементы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подстраиваются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под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ширину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экрана</a:t>
            </a:r>
            <a:r>
              <a:rPr lang="en-US" sz="1200" dirty="0">
                <a:ea typeface="+mn-lt"/>
                <a:cs typeface="+mn-lt"/>
              </a:rPr>
              <a:t>.</a:t>
            </a:r>
            <a:endParaRPr lang="ru-RU" dirty="0"/>
          </a:p>
          <a:p>
            <a:pPr>
              <a:defRPr/>
            </a:pPr>
            <a:endParaRPr sz="1200" dirty="0"/>
          </a:p>
        </p:txBody>
      </p:sp>
      <p:sp>
        <p:nvSpPr>
          <p:cNvPr id="539635512" name="TextBox 539635511"/>
          <p:cNvSpPr txBox="1"/>
          <p:nvPr/>
        </p:nvSpPr>
        <p:spPr bwMode="auto">
          <a:xfrm>
            <a:off x="641772" y="-17165"/>
            <a:ext cx="432299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b="1"/>
              <a:t>ТЕХНИЧЕСКИЕ ПРОБЛЕМЫ И РЕШЕНИЯ.</a:t>
            </a:r>
            <a:endParaRPr/>
          </a:p>
        </p:txBody>
      </p:sp>
      <p:sp>
        <p:nvSpPr>
          <p:cNvPr id="95549051" name="Rectangle 3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41772" y="623273"/>
            <a:ext cx="10905051" cy="5607880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50849263" name="Прямая соединительная линия 350849262"/>
          <p:cNvCxnSpPr/>
          <p:nvPr/>
        </p:nvCxnSpPr>
        <p:spPr bwMode="auto">
          <a:xfrm flipV="1">
            <a:off x="-16380" y="4402430"/>
            <a:ext cx="12224760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777657" name="TextBox 253777656"/>
          <p:cNvSpPr txBox="1"/>
          <p:nvPr/>
        </p:nvSpPr>
        <p:spPr bwMode="auto">
          <a:xfrm>
            <a:off x="849983" y="194140"/>
            <a:ext cx="430892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b="1"/>
              <a:t>Инструкция по запуску</a:t>
            </a:r>
            <a:endParaRPr/>
          </a:p>
        </p:txBody>
      </p:sp>
      <p:sp>
        <p:nvSpPr>
          <p:cNvPr id="2100425390" name="TextBox 2100425389"/>
          <p:cNvSpPr txBox="1"/>
          <p:nvPr/>
        </p:nvSpPr>
        <p:spPr bwMode="auto">
          <a:xfrm>
            <a:off x="745620" y="4411722"/>
            <a:ext cx="10702646" cy="168507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ru-RU"/>
              <a:t>Инструкция по запуску ЛОКАЛЬНЫЙ ЗАПУСК: </a:t>
            </a:r>
            <a:r>
              <a:rPr lang="af-ZA"/>
              <a:t>git clone https://github.com/GogIkeks/diet-bot.git cd diet-bot # </a:t>
            </a:r>
            <a:r>
              <a:rPr lang="ru-RU"/>
              <a:t>Открыть </a:t>
            </a:r>
            <a:r>
              <a:rPr lang="af-ZA"/>
              <a:t>index.html </a:t>
            </a:r>
            <a:r>
              <a:rPr lang="ru-RU"/>
              <a:t>в браузере ИЛИ: </a:t>
            </a:r>
            <a:endParaRPr lang="ru-RU" dirty="0"/>
          </a:p>
          <a:p>
            <a:pPr algn="ctr">
              <a:defRPr/>
            </a:pPr>
            <a:r>
              <a:rPr lang="ru-RU"/>
              <a:t>1. Скачать </a:t>
            </a:r>
            <a:r>
              <a:rPr lang="af-ZA"/>
              <a:t>ZIP-</a:t>
            </a:r>
            <a:r>
              <a:rPr lang="ru-RU"/>
              <a:t>архив с </a:t>
            </a:r>
            <a:r>
              <a:rPr lang="af-ZA"/>
              <a:t>GitHub 2. </a:t>
            </a:r>
            <a:r>
              <a:rPr lang="ru-RU"/>
              <a:t>Распаковать в любую папку 3. Открыть </a:t>
            </a:r>
            <a:r>
              <a:rPr lang="af-ZA"/>
              <a:t>index.html </a:t>
            </a:r>
            <a:r>
              <a:rPr lang="ru-RU"/>
              <a:t>в браузере (</a:t>
            </a:r>
            <a:r>
              <a:rPr lang="af-ZA"/>
              <a:t>Chrome, Firefox, Edge) </a:t>
            </a:r>
            <a:endParaRPr lang="ru-RU"/>
          </a:p>
          <a:p>
            <a:pPr algn="ctr">
              <a:defRPr/>
            </a:pPr>
            <a:r>
              <a:rPr lang="ru-RU"/>
              <a:t>ИЛИ ПРОСТО: Перейти по ссылке: </a:t>
            </a:r>
            <a:r>
              <a:rPr lang="af-ZA"/>
              <a:t>https://GogIkeks.github.io/diet-bot/ --- </a:t>
            </a:r>
            <a:r>
              <a:rPr lang="ru-RU"/>
              <a:t>Ссылка на репозиторий: </a:t>
            </a:r>
            <a:r>
              <a:rPr lang="af-ZA" dirty="0"/>
              <a:t>https://github.com/GogIkeks/diet-bot</a:t>
            </a:r>
            <a:endParaRPr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DE13B8F-24FD-5D62-105D-8EC06DF30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1" y="776637"/>
            <a:ext cx="3420638" cy="364134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9581D8C-ECBA-8A00-B11F-BF905CA11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7384" y="223024"/>
            <a:ext cx="2890966" cy="418170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CECE04-A496-9384-E6D7-BD5207DB7F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5179" y="232318"/>
            <a:ext cx="2561254" cy="41817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3004480" name="Рисунок 193300447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549695" y="5042197"/>
            <a:ext cx="1467563" cy="1467563"/>
          </a:xfrm>
          <a:prstGeom prst="rect">
            <a:avLst/>
          </a:prstGeom>
        </p:spPr>
      </p:pic>
      <p:pic>
        <p:nvPicPr>
          <p:cNvPr id="1403065972" name="Рисунок 1403065971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07851" y="113814"/>
            <a:ext cx="1266400" cy="1266400"/>
          </a:xfrm>
          <a:prstGeom prst="rect">
            <a:avLst/>
          </a:prstGeom>
        </p:spPr>
      </p:pic>
      <p:pic>
        <p:nvPicPr>
          <p:cNvPr id="1954614582" name="Рисунок 1954614581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1030165" y="38728"/>
            <a:ext cx="1116223" cy="1116223"/>
          </a:xfrm>
          <a:prstGeom prst="rect">
            <a:avLst/>
          </a:prstGeom>
        </p:spPr>
      </p:pic>
      <p:pic>
        <p:nvPicPr>
          <p:cNvPr id="1403318717" name="Рисунок 1403318716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207851" y="5386289"/>
            <a:ext cx="1308699" cy="1308699"/>
          </a:xfrm>
          <a:prstGeom prst="rect">
            <a:avLst/>
          </a:prstGeom>
        </p:spPr>
      </p:pic>
      <p:sp>
        <p:nvSpPr>
          <p:cNvPr id="693413127" name="TextBox 693413126"/>
          <p:cNvSpPr txBox="1"/>
          <p:nvPr/>
        </p:nvSpPr>
        <p:spPr bwMode="auto">
          <a:xfrm>
            <a:off x="2992251" y="596840"/>
            <a:ext cx="6211816" cy="593239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ru-RU"/>
              <a:t> Выводы: </a:t>
            </a:r>
          </a:p>
          <a:p>
            <a:pPr>
              <a:defRPr/>
            </a:pPr>
            <a:r>
              <a:rPr lang="ru-RU"/>
              <a:t>1. Изучены технологии </a:t>
            </a:r>
            <a:r>
              <a:rPr lang="af-ZA"/>
              <a:t>HTML5, CSS3, JavaScript </a:t>
            </a:r>
            <a:r>
              <a:rPr lang="ru-RU"/>
              <a:t>и </a:t>
            </a:r>
            <a:r>
              <a:rPr lang="af-ZA"/>
              <a:t>localStorage </a:t>
            </a:r>
          </a:p>
          <a:p>
            <a:pPr>
              <a:defRPr/>
            </a:pPr>
            <a:endParaRPr lang="af-ZA" dirty="0"/>
          </a:p>
          <a:p>
            <a:pPr>
              <a:defRPr/>
            </a:pPr>
            <a:r>
              <a:rPr lang="af-ZA"/>
              <a:t>2. </a:t>
            </a:r>
            <a:r>
              <a:rPr lang="ru-RU"/>
              <a:t>Создан адаптивный интерфейс, работающий на всех устройствах </a:t>
            </a:r>
          </a:p>
          <a:p>
            <a:pPr>
              <a:defRPr/>
            </a:pPr>
            <a:endParaRPr lang="ru-RU" dirty="0"/>
          </a:p>
          <a:p>
            <a:pPr>
              <a:defRPr/>
            </a:pPr>
            <a:r>
              <a:rPr lang="ru-RU"/>
              <a:t>3. Реализован расчёт КБЖУ по формуле Миффлина-Сан Жеора </a:t>
            </a:r>
          </a:p>
          <a:p>
            <a:pPr>
              <a:defRPr/>
            </a:pPr>
            <a:endParaRPr lang="ru-RU" dirty="0"/>
          </a:p>
          <a:p>
            <a:pPr>
              <a:defRPr/>
            </a:pPr>
            <a:r>
              <a:rPr lang="ru-RU"/>
              <a:t>4. Разработана база из 20 рецептов и модуль генерации меню </a:t>
            </a:r>
          </a:p>
          <a:p>
            <a:pPr>
              <a:defRPr/>
            </a:pPr>
            <a:endParaRPr lang="ru-RU" dirty="0"/>
          </a:p>
          <a:p>
            <a:pPr>
              <a:defRPr/>
            </a:pPr>
            <a:r>
              <a:rPr lang="ru-RU"/>
              <a:t>5. Организовано сохранение и загрузка профиля в </a:t>
            </a:r>
            <a:r>
              <a:rPr lang="af-ZA"/>
              <a:t>localStorage </a:t>
            </a:r>
          </a:p>
          <a:p>
            <a:pPr>
              <a:defRPr/>
            </a:pPr>
            <a:endParaRPr lang="af-ZA" dirty="0"/>
          </a:p>
          <a:p>
            <a:pPr>
              <a:defRPr/>
            </a:pPr>
            <a:r>
              <a:rPr lang="af-ZA"/>
              <a:t>6.</a:t>
            </a:r>
            <a:r>
              <a:rPr lang="ru-RU" dirty="0"/>
              <a:t> Общий вывод: Приложение позволяет рассчитывать индивидуальную норму КБЖУ, сохранять профиль и получать готовое меню на день. Работает автономно, бесплатно, данные хранятся на устройстве. </a:t>
            </a:r>
          </a:p>
          <a:p>
            <a:pPr>
              <a:defRPr/>
            </a:pPr>
            <a:endParaRPr lang="ru-RU" dirty="0"/>
          </a:p>
          <a:p>
            <a:pPr>
              <a:defRPr/>
            </a:pPr>
            <a:r>
              <a:rPr lang="ru-RU"/>
              <a:t>      **Доклад </a:t>
            </a:r>
            <a:r>
              <a:rPr lang="ru-RU" dirty="0"/>
              <a:t>окончен. Спасибо за внимание!**</a:t>
            </a:r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Широкоэкранный</PresentationFormat>
  <Slides>12</Slides>
  <Notes>12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Модель данных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97</cp:revision>
  <dcterms:modified xsi:type="dcterms:W3CDTF">2026-06-17T21:23:49Z</dcterms:modified>
</cp:coreProperties>
</file>